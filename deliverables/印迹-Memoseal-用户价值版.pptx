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1.svg" ContentType="image/svg+xml"/>
  <Override PartName="/ppt/media/image13.svg" ContentType="image/svg+xml"/>
  <Override PartName="/ppt/media/image15.svg" ContentType="image/svg+xml"/>
  <Override PartName="/ppt/media/image17.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5"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建议时长：30 秒
这一页先回答“印迹为什么值得做”。它不是给照片加一层效果，而是想把一段旅行里真正值得留下的感觉，整理成一枚数字印章，再进一步沉淀为手帐页和足迹地图。它解决的不是好不好看，而是旅行结束以后，记忆还能不能被好好留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建议时长：30 秒
这一页讲的是普通用户真正遇到的问题。线下集章很有仪式感，但很难被再次整理；手机里照片很多，但很少真的回看；社交平台方便发布，却不一定能完整保留当时的地点、情绪和个人视角。印迹的意义，就是把这些分散的保存方式重新串起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建议时长：35 秒
产品方案非常直接。用户先上传旅行照片，AI 把这张照片提炼成一枚带风格的数字印章。接着，印章和地点、日期、文案一起被排进一页数字手帐。每次创作完成后，内容自动落到地图上，成为一条可回顾、可分享、可再编辑的足迹。也就是说，印迹不是停在“生成一张图”，而是把一张图变成完整的内容单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建议时长：35 秒
这一页是为了建立可信度。项目不是只有概念稿。后端 PoC 已经支持多风格、多形状、多纹理和透明 PNG 输出；相邻全栈项目也已经把上传、生成、编辑、保存、首页展示和地图展示整条链路跑通。同时，技术实现采用 React 前端、FastAPI 后端，配合 GMI、rembg 和 SQLite 形成了可复用的基础链路。所以现在面对的问题，不是能不能做，而是怎么继续把它验证成真实产品。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建议时长：35 秒
这一页不谈商业，而是直接回答用户能得到什么。第一，它能把地点、日期、图像和一句话放在一起，让一段旅行更容易被想起来。第二，它降低了表达门槛，不会设计的人也能做出像样的旅行手帐。第三，它让旅行内容从一次发完就结束，变成可以在集册和地图里继续回看的个人记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建议时长：35 秒
这一页用外部资料做验证。第一，关于集章，公开报道已经把它当成一种新的旅行仪式来看待。第二，关于记录，National Geographic 提到旅行日记比单纯发社交媒体更能留下真实体验。第三，关于分享，旅行相关的用户生成内容本身就能帮助别人获取基于真实经验的建议。也就是说，印迹想串起来的“仪式感、记录、分享”三件事，本来就真实存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建议时长：40 秒
最后一页讲清楚下一步继续验证什么。近期先把移动端核心链路做顺，中期补齐分享卡、模板和时间轴，长期是把印迹真正沉淀成个人旅行集册和地图档案。这里最重要的不是讲宏大故事，而是观察一个简单指标：用户旅行结束以后，愿不愿意回来继续整理、回看和分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建议时长：20 秒，可选
这一页是备选附录，不一定在 4 分钟主讲里使用。它主要回答一个问题：如果用户回到家以后，还想把旅行内容做得更完整怎么办。答案是用 Web 端承接更重度的编辑和排版，让移动端负责轻创作、Web 端负责深编辑，两者一起把旅行记忆沉淀得更完整。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建议时长：20 秒，可选
这一页是备选附录，不一定在 4 分钟主讲里使用。它主要回答一个问题：如果用户回到家以后，还想把旅行内容做得更完整怎么办。答案是用 Web 端承接更重度的编辑和排版，让移动端负责轻创作、Web 端负责深编辑，两者一起把旅行记忆沉淀得更完整。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9" Type="http://schemas.openxmlformats.org/officeDocument/2006/relationships/image" Target="../media/image12.png"/><Relationship Id="rId8" Type="http://schemas.openxmlformats.org/officeDocument/2006/relationships/image" Target="../media/image11.svg"/><Relationship Id="rId7" Type="http://schemas.openxmlformats.org/officeDocument/2006/relationships/image" Target="../media/image10.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jpeg"/><Relationship Id="rId3" Type="http://schemas.openxmlformats.org/officeDocument/2006/relationships/image" Target="../media/image6.jpeg"/><Relationship Id="rId2" Type="http://schemas.openxmlformats.org/officeDocument/2006/relationships/image" Target="../media/image5.jpeg"/><Relationship Id="rId16" Type="http://schemas.openxmlformats.org/officeDocument/2006/relationships/notesSlide" Target="../notesSlides/notesSlide3.xml"/><Relationship Id="rId15" Type="http://schemas.openxmlformats.org/officeDocument/2006/relationships/slideLayout" Target="../slideLayouts/slideLayout1.xml"/><Relationship Id="rId14" Type="http://schemas.openxmlformats.org/officeDocument/2006/relationships/image" Target="../media/image17.svg"/><Relationship Id="rId13" Type="http://schemas.openxmlformats.org/officeDocument/2006/relationships/image" Target="../media/image16.png"/><Relationship Id="rId12" Type="http://schemas.openxmlformats.org/officeDocument/2006/relationships/image" Target="../media/image15.svg"/><Relationship Id="rId11" Type="http://schemas.openxmlformats.org/officeDocument/2006/relationships/image" Target="../media/image14.png"/><Relationship Id="rId10" Type="http://schemas.openxmlformats.org/officeDocument/2006/relationships/image" Target="../media/image13.svg"/><Relationship Id="rId1" Type="http://schemas.openxmlformats.org/officeDocument/2006/relationships/image" Target="../media/image4.jpe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xml"/><Relationship Id="rId2" Type="http://schemas.openxmlformats.org/officeDocument/2006/relationships/image" Target="../media/image7.jpeg"/><Relationship Id="rId1" Type="http://schemas.openxmlformats.org/officeDocument/2006/relationships/image" Target="../media/image4.jpe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1.xml"/><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image" Target="../media/image18.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21.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xml"/><Relationship Id="rId2" Type="http://schemas.openxmlformats.org/officeDocument/2006/relationships/image" Target="../media/image23.png"/><Relationship Id="rId1"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0E8"/>
          </a:solidFill>
          <a:ln w="12700">
            <a:solidFill>
              <a:srgbClr val="F7F0E8">
                <a:alpha val="0"/>
              </a:srgbClr>
            </a:solidFill>
            <a:prstDash val="solid"/>
          </a:ln>
        </p:spPr>
      </p:sp>
      <p:sp>
        <p:nvSpPr>
          <p:cNvPr id="3" name="Shape 1"/>
          <p:cNvSpPr/>
          <p:nvPr/>
        </p:nvSpPr>
        <p:spPr>
          <a:xfrm>
            <a:off x="9784080" y="-822960"/>
            <a:ext cx="3474720" cy="2468880"/>
          </a:xfrm>
          <a:prstGeom prst="ellipse">
            <a:avLst/>
          </a:prstGeom>
          <a:solidFill>
            <a:srgbClr val="F0D7D2">
              <a:alpha val="42000"/>
            </a:srgbClr>
          </a:solidFill>
          <a:ln w="12700">
            <a:solidFill>
              <a:srgbClr val="F7F0E8">
                <a:alpha val="0"/>
              </a:srgbClr>
            </a:solidFill>
            <a:prstDash val="solid"/>
          </a:ln>
        </p:spPr>
      </p:sp>
      <p:sp>
        <p:nvSpPr>
          <p:cNvPr id="4" name="Shape 2"/>
          <p:cNvSpPr/>
          <p:nvPr/>
        </p:nvSpPr>
        <p:spPr>
          <a:xfrm>
            <a:off x="-731520" y="5577840"/>
            <a:ext cx="2743200" cy="1920240"/>
          </a:xfrm>
          <a:prstGeom prst="ellipse">
            <a:avLst/>
          </a:prstGeom>
          <a:solidFill>
            <a:srgbClr val="E9C8C0">
              <a:alpha val="28000"/>
            </a:srgbClr>
          </a:solidFill>
          <a:ln w="12700">
            <a:solidFill>
              <a:srgbClr val="F7F0E8">
                <a:alpha val="0"/>
              </a:srgbClr>
            </a:solidFill>
            <a:prstDash val="solid"/>
          </a:ln>
        </p:spPr>
      </p:sp>
      <p:sp>
        <p:nvSpPr>
          <p:cNvPr id="5" name="Shape 3"/>
          <p:cNvSpPr/>
          <p:nvPr/>
        </p:nvSpPr>
        <p:spPr>
          <a:xfrm>
            <a:off x="713232" y="612648"/>
            <a:ext cx="310896" cy="0"/>
          </a:xfrm>
          <a:prstGeom prst="line">
            <a:avLst/>
          </a:prstGeom>
          <a:noFill/>
          <a:ln w="12700">
            <a:solidFill>
              <a:srgbClr val="C46467"/>
            </a:solidFill>
            <a:prstDash val="solid"/>
          </a:ln>
        </p:spPr>
      </p:sp>
      <p:sp>
        <p:nvSpPr>
          <p:cNvPr id="6" name="Text 4"/>
          <p:cNvSpPr/>
          <p:nvPr/>
        </p:nvSpPr>
        <p:spPr>
          <a:xfrm>
            <a:off x="1069848" y="429768"/>
            <a:ext cx="4206240" cy="201168"/>
          </a:xfrm>
          <a:prstGeom prst="rect">
            <a:avLst/>
          </a:prstGeom>
          <a:noFill/>
        </p:spPr>
        <p:txBody>
          <a:bodyPr wrap="square" rtlCol="0" anchor="ctr"/>
          <a:lstStyle/>
          <a:p>
            <a:pPr marL="0" indent="0">
              <a:buNone/>
            </a:pPr>
            <a:r>
              <a:rPr lang="en-US" sz="900" b="1" dirty="0">
                <a:solidFill>
                  <a:srgbClr val="866F63"/>
                </a:solidFill>
                <a:latin typeface="Avenir Next" panose="020B0803020202020204" pitchFamily="34" charset="0"/>
                <a:ea typeface="Avenir Next" panose="020B0803020202020204" pitchFamily="34" charset="-122"/>
                <a:cs typeface="Avenir Next" panose="020B0803020202020204" pitchFamily="34" charset="-120"/>
              </a:rPr>
              <a:t>USER VALUE DECK</a:t>
            </a:r>
            <a:endParaRPr lang="en-US" sz="900" dirty="0"/>
          </a:p>
        </p:txBody>
      </p:sp>
      <p:sp>
        <p:nvSpPr>
          <p:cNvPr id="7" name="Text 5"/>
          <p:cNvSpPr/>
          <p:nvPr/>
        </p:nvSpPr>
        <p:spPr>
          <a:xfrm>
            <a:off x="11155680" y="384048"/>
            <a:ext cx="329184" cy="219456"/>
          </a:xfrm>
          <a:prstGeom prst="rect">
            <a:avLst/>
          </a:prstGeom>
          <a:noFill/>
        </p:spPr>
        <p:txBody>
          <a:bodyPr wrap="square" rtlCol="0" anchor="ctr"/>
          <a:lstStyle/>
          <a:p>
            <a:pPr marL="0" indent="0" algn="r">
              <a:buNone/>
            </a:pPr>
            <a:r>
              <a:rPr lang="en-US" sz="1000" b="1" dirty="0">
                <a:solidFill>
                  <a:srgbClr val="C46467"/>
                </a:solidFill>
                <a:latin typeface="Avenir Next" panose="020B0803020202020204" pitchFamily="34" charset="0"/>
                <a:ea typeface="Avenir Next" panose="020B0803020202020204" pitchFamily="34" charset="-122"/>
                <a:cs typeface="Avenir Next" panose="020B0803020202020204" pitchFamily="34" charset="-120"/>
              </a:rPr>
              <a:t>01</a:t>
            </a:r>
            <a:endParaRPr lang="en-US" sz="1000" dirty="0"/>
          </a:p>
        </p:txBody>
      </p:sp>
      <p:sp>
        <p:nvSpPr>
          <p:cNvPr id="8" name="Shape 6"/>
          <p:cNvSpPr/>
          <p:nvPr/>
        </p:nvSpPr>
        <p:spPr>
          <a:xfrm>
            <a:off x="859536" y="720344"/>
            <a:ext cx="1554480" cy="347472"/>
          </a:xfrm>
          <a:prstGeom prst="roundRect">
            <a:avLst>
              <a:gd name="adj" fmla="val 21053"/>
            </a:avLst>
          </a:prstGeom>
          <a:solidFill>
            <a:srgbClr val="FBF5EF"/>
          </a:solidFill>
          <a:ln w="12700">
            <a:solidFill>
              <a:srgbClr val="E9C8C0"/>
            </a:solidFill>
            <a:prstDash val="solid"/>
          </a:ln>
        </p:spPr>
      </p:sp>
      <p:sp>
        <p:nvSpPr>
          <p:cNvPr id="9" name="Text 7"/>
          <p:cNvSpPr/>
          <p:nvPr/>
        </p:nvSpPr>
        <p:spPr>
          <a:xfrm>
            <a:off x="859536" y="788924"/>
            <a:ext cx="1554480" cy="182880"/>
          </a:xfrm>
          <a:prstGeom prst="rect">
            <a:avLst/>
          </a:prstGeom>
          <a:noFill/>
        </p:spPr>
        <p:txBody>
          <a:bodyPr wrap="square" lIns="0" tIns="0" rIns="0" bIns="0" rtlCol="0" anchor="ctr"/>
          <a:lstStyle/>
          <a:p>
            <a:pPr marL="0" indent="0" algn="ctr">
              <a:buNone/>
            </a:pPr>
            <a:r>
              <a:rPr lang="en-US" sz="860" b="1" dirty="0">
                <a:solidFill>
                  <a:srgbClr val="88504C"/>
                </a:solidFill>
                <a:latin typeface="Avenir Next" panose="020B0803020202020204" pitchFamily="34" charset="0"/>
                <a:ea typeface="Avenir Next" panose="020B0803020202020204" pitchFamily="34" charset="-122"/>
                <a:cs typeface="Avenir Next" panose="020B0803020202020204" pitchFamily="34" charset="-120"/>
              </a:rPr>
              <a:t>旅行记忆与表达</a:t>
            </a:r>
            <a:endParaRPr lang="en-US" sz="860" dirty="0"/>
          </a:p>
        </p:txBody>
      </p:sp>
      <p:sp>
        <p:nvSpPr>
          <p:cNvPr id="10" name="Text 8"/>
          <p:cNvSpPr/>
          <p:nvPr/>
        </p:nvSpPr>
        <p:spPr>
          <a:xfrm>
            <a:off x="841248" y="1353820"/>
            <a:ext cx="5074920" cy="621792"/>
          </a:xfrm>
          <a:prstGeom prst="rect">
            <a:avLst/>
          </a:prstGeom>
          <a:noFill/>
        </p:spPr>
        <p:txBody>
          <a:bodyPr wrap="square" lIns="0" tIns="0" rIns="0" bIns="0" rtlCol="0" anchor="ctr"/>
          <a:lstStyle/>
          <a:p>
            <a:pPr marL="0" indent="0">
              <a:buNone/>
            </a:pPr>
            <a:r>
              <a:rPr lang="en-US" sz="4800" b="1" dirty="0">
                <a:solidFill>
                  <a:srgbClr val="5B4338"/>
                </a:solidFill>
                <a:latin typeface="Songti SC" panose="02010800040101010101" pitchFamily="34" charset="-122"/>
                <a:ea typeface="Songti SC" panose="02010800040101010101" pitchFamily="34" charset="-122"/>
                <a:cs typeface="Songti SC" panose="02010800040101010101" pitchFamily="34" charset="-120"/>
              </a:rPr>
              <a:t>印迹 Memoseal</a:t>
            </a:r>
            <a:endParaRPr lang="en-US" sz="4800" b="1" dirty="0">
              <a:solidFill>
                <a:srgbClr val="5B4338"/>
              </a:solidFill>
              <a:latin typeface="Songti SC" panose="02010800040101010101" pitchFamily="34" charset="-122"/>
              <a:ea typeface="Songti SC" panose="02010800040101010101" pitchFamily="34" charset="-122"/>
              <a:cs typeface="Songti SC" panose="02010800040101010101" pitchFamily="34" charset="-120"/>
            </a:endParaRPr>
          </a:p>
        </p:txBody>
      </p:sp>
      <p:sp>
        <p:nvSpPr>
          <p:cNvPr id="11" name="Text 9"/>
          <p:cNvSpPr/>
          <p:nvPr/>
        </p:nvSpPr>
        <p:spPr>
          <a:xfrm>
            <a:off x="841248" y="2234438"/>
            <a:ext cx="5074920" cy="420624"/>
          </a:xfrm>
          <a:prstGeom prst="rect">
            <a:avLst/>
          </a:prstGeom>
          <a:noFill/>
        </p:spPr>
        <p:txBody>
          <a:bodyPr wrap="square" lIns="0" tIns="0" rIns="0" bIns="0" rtlCol="0" anchor="ctr"/>
          <a:lstStyle/>
          <a:p>
            <a:pPr marL="0" indent="0">
              <a:buNone/>
            </a:pPr>
            <a:r>
              <a:rPr lang="en-US" sz="1050" dirty="0">
                <a:solidFill>
                  <a:srgbClr val="866F63"/>
                </a:solidFill>
                <a:latin typeface="Hiragino Sans GB" panose="020B0300000000000000" pitchFamily="34" charset="-122"/>
                <a:ea typeface="Hiragino Sans GB" panose="020B0300000000000000" pitchFamily="34" charset="-122"/>
                <a:cs typeface="Hiragino Sans GB" panose="020B0300000000000000" pitchFamily="34" charset="-120"/>
              </a:rPr>
              <a:t>把每一段旅行，盖成一枚能被保存、回看和分享的数字印章</a:t>
            </a:r>
            <a:endParaRPr lang="en-US" sz="1050" dirty="0"/>
          </a:p>
        </p:txBody>
      </p:sp>
      <p:sp>
        <p:nvSpPr>
          <p:cNvPr id="12" name="Text 10"/>
          <p:cNvSpPr/>
          <p:nvPr/>
        </p:nvSpPr>
        <p:spPr>
          <a:xfrm>
            <a:off x="859536" y="2697480"/>
            <a:ext cx="4800600" cy="1078992"/>
          </a:xfrm>
          <a:prstGeom prst="rect">
            <a:avLst/>
          </a:prstGeom>
          <a:noFill/>
        </p:spPr>
        <p:txBody>
          <a:bodyPr wrap="square" lIns="0" tIns="0" rIns="0" bIns="0" rtlCol="0" anchor="ctr"/>
          <a:lstStyle/>
          <a:p>
            <a:pPr marL="0" indent="0">
              <a:lnSpc>
                <a:spcPct val="120000"/>
              </a:lnSpc>
              <a:buNone/>
            </a:pPr>
            <a:r>
              <a:rPr lang="en-US" sz="1200" dirty="0">
                <a:solidFill>
                  <a:srgbClr val="866F63"/>
                </a:solidFill>
                <a:latin typeface="Hiragino Sans GB" panose="020B0300000000000000" pitchFamily="34" charset="-122"/>
                <a:ea typeface="Hiragino Sans GB" panose="020B0300000000000000" pitchFamily="34" charset="-122"/>
                <a:cs typeface="Hiragino Sans GB" panose="020B0300000000000000" pitchFamily="34" charset="-120"/>
              </a:rPr>
              <a:t>很多旅行最后只留下散落在相册里的照片。</a:t>
            </a:r>
            <a:endParaRPr lang="en-US" sz="1200" dirty="0">
              <a:solidFill>
                <a:srgbClr val="866F63"/>
              </a:solidFill>
              <a:latin typeface="Hiragino Sans GB" panose="020B0300000000000000" pitchFamily="34" charset="-122"/>
              <a:ea typeface="Hiragino Sans GB" panose="020B0300000000000000" pitchFamily="34" charset="-122"/>
              <a:cs typeface="Hiragino Sans GB" panose="020B0300000000000000" pitchFamily="34" charset="-120"/>
            </a:endParaRPr>
          </a:p>
          <a:p>
            <a:pPr marL="0" indent="0">
              <a:lnSpc>
                <a:spcPct val="120000"/>
              </a:lnSpc>
              <a:buNone/>
            </a:pPr>
            <a:r>
              <a:rPr lang="zh-CN" altLang="en-US" sz="1200" dirty="0">
                <a:solidFill>
                  <a:srgbClr val="866F63"/>
                </a:solidFill>
                <a:latin typeface="Hiragino Sans GB" panose="020B0300000000000000" pitchFamily="34" charset="-122"/>
                <a:ea typeface="Hiragino Sans GB" panose="020B0300000000000000" pitchFamily="34" charset="-122"/>
                <a:cs typeface="Hiragino Sans GB" panose="020B0300000000000000" pitchFamily="34" charset="-120"/>
              </a:rPr>
              <a:t>而</a:t>
            </a:r>
            <a:r>
              <a:rPr lang="en-US" altLang="zh-CN" sz="1200" dirty="0">
                <a:solidFill>
                  <a:srgbClr val="866F63"/>
                </a:solidFill>
                <a:latin typeface="Hiragino Sans GB" panose="020B0300000000000000" pitchFamily="34" charset="-122"/>
                <a:ea typeface="Hiragino Sans GB" panose="020B0300000000000000" pitchFamily="34" charset="-122"/>
                <a:cs typeface="Hiragino Sans GB" panose="020B0300000000000000" pitchFamily="34" charset="-120"/>
              </a:rPr>
              <a:t> </a:t>
            </a:r>
            <a:r>
              <a:rPr lang="en-US" sz="1600" b="1" dirty="0">
                <a:solidFill>
                  <a:srgbClr val="866F63"/>
                </a:solidFill>
                <a:latin typeface="Hiragino Sans GB W6" panose="020B0300000000000000" charset="-122"/>
                <a:ea typeface="Hiragino Sans GB W6" panose="020B0300000000000000" charset="-122"/>
                <a:cs typeface="Hiragino Sans GB" panose="020B0300000000000000" pitchFamily="34" charset="-120"/>
              </a:rPr>
              <a:t>印迹</a:t>
            </a:r>
            <a:r>
              <a:rPr lang="en-US" sz="1200" dirty="0">
                <a:solidFill>
                  <a:srgbClr val="866F63"/>
                </a:solidFill>
                <a:latin typeface="Hiragino Sans GB" panose="020B0300000000000000" pitchFamily="34" charset="-122"/>
                <a:ea typeface="Hiragino Sans GB" panose="020B0300000000000000" pitchFamily="34" charset="-122"/>
                <a:cs typeface="Hiragino Sans GB" panose="020B0300000000000000" pitchFamily="34" charset="-120"/>
              </a:rPr>
              <a:t> 想做的，是把那些容易散掉的瞬间重新组织起来，让地点、情绪和表达方式一起被留下，变成一份更完整的旅行记忆。</a:t>
            </a:r>
            <a:endParaRPr lang="en-US" sz="1200" dirty="0"/>
          </a:p>
        </p:txBody>
      </p:sp>
      <p:sp>
        <p:nvSpPr>
          <p:cNvPr id="13" name="Shape 11"/>
          <p:cNvSpPr/>
          <p:nvPr/>
        </p:nvSpPr>
        <p:spPr>
          <a:xfrm>
            <a:off x="859536" y="3977640"/>
            <a:ext cx="4709160" cy="621792"/>
          </a:xfrm>
          <a:prstGeom prst="roundRect">
            <a:avLst>
              <a:gd name="adj" fmla="val 17647"/>
            </a:avLst>
          </a:prstGeom>
          <a:solidFill>
            <a:srgbClr val="FBF5EF"/>
          </a:solidFill>
          <a:ln w="12700">
            <a:solidFill>
              <a:srgbClr val="E9DBD0"/>
            </a:solidFill>
            <a:prstDash val="solid"/>
          </a:ln>
        </p:spPr>
      </p:sp>
      <p:sp>
        <p:nvSpPr>
          <p:cNvPr id="14" name="Text 12"/>
          <p:cNvSpPr/>
          <p:nvPr/>
        </p:nvSpPr>
        <p:spPr>
          <a:xfrm>
            <a:off x="1078992" y="4197096"/>
            <a:ext cx="4261104" cy="128016"/>
          </a:xfrm>
          <a:prstGeom prst="rect">
            <a:avLst/>
          </a:prstGeom>
          <a:noFill/>
        </p:spPr>
        <p:txBody>
          <a:bodyPr wrap="square" lIns="0" tIns="0" rIns="0" bIns="0" rtlCol="0" anchor="ctr"/>
          <a:lstStyle/>
          <a:p>
            <a:pPr marL="0" indent="0" algn="ctr">
              <a:buNone/>
            </a:pPr>
            <a:r>
              <a:rPr lang="en-US" sz="1100" b="1" dirty="0">
                <a:solidFill>
                  <a:srgbClr val="88504C"/>
                </a:solidFill>
                <a:latin typeface="Hiragino Sans GB" panose="020B0300000000000000" pitchFamily="34" charset="-122"/>
                <a:ea typeface="Hiragino Sans GB" panose="020B0300000000000000" pitchFamily="34" charset="-122"/>
                <a:cs typeface="Hiragino Sans GB" panose="020B0300000000000000" pitchFamily="34" charset="-120"/>
              </a:rPr>
              <a:t>照片 → 印章 → 手帐页 → 足迹地图 → 回忆与分享</a:t>
            </a:r>
            <a:endParaRPr lang="en-US" sz="1100" dirty="0"/>
          </a:p>
        </p:txBody>
      </p:sp>
      <p:sp>
        <p:nvSpPr>
          <p:cNvPr id="15" name="Shape 13"/>
          <p:cNvSpPr/>
          <p:nvPr/>
        </p:nvSpPr>
        <p:spPr>
          <a:xfrm>
            <a:off x="868680" y="4828032"/>
            <a:ext cx="1325880" cy="347472"/>
          </a:xfrm>
          <a:prstGeom prst="roundRect">
            <a:avLst>
              <a:gd name="adj" fmla="val 21053"/>
            </a:avLst>
          </a:prstGeom>
          <a:solidFill>
            <a:srgbClr val="FFFDF9"/>
          </a:solidFill>
          <a:ln w="12700">
            <a:solidFill>
              <a:srgbClr val="E9DBD0"/>
            </a:solidFill>
            <a:prstDash val="solid"/>
          </a:ln>
        </p:spPr>
      </p:sp>
      <p:sp>
        <p:nvSpPr>
          <p:cNvPr id="16" name="Text 14"/>
          <p:cNvSpPr/>
          <p:nvPr/>
        </p:nvSpPr>
        <p:spPr>
          <a:xfrm>
            <a:off x="868680" y="4896612"/>
            <a:ext cx="1325880" cy="182880"/>
          </a:xfrm>
          <a:prstGeom prst="rect">
            <a:avLst/>
          </a:prstGeom>
          <a:noFill/>
        </p:spPr>
        <p:txBody>
          <a:bodyPr wrap="square" lIns="0" tIns="0" rIns="0" bIns="0" rtlCol="0" anchor="ctr"/>
          <a:lstStyle/>
          <a:p>
            <a:pPr marL="0" indent="0" algn="ctr">
              <a:buNone/>
            </a:pPr>
            <a:r>
              <a:rPr lang="en-US" sz="900" b="1" dirty="0">
                <a:solidFill>
                  <a:srgbClr val="5B4338"/>
                </a:solidFill>
                <a:latin typeface="Hiragino Sans GB" panose="020B0300000000000000" pitchFamily="34" charset="-122"/>
                <a:ea typeface="Hiragino Sans GB" panose="020B0300000000000000" pitchFamily="34" charset="-122"/>
                <a:cs typeface="Hiragino Sans GB" panose="020B0300000000000000" pitchFamily="34" charset="-120"/>
              </a:rPr>
              <a:t>AI 印章生成</a:t>
            </a:r>
            <a:endParaRPr lang="en-US" sz="900" dirty="0"/>
          </a:p>
        </p:txBody>
      </p:sp>
      <p:sp>
        <p:nvSpPr>
          <p:cNvPr id="17" name="Shape 15"/>
          <p:cNvSpPr/>
          <p:nvPr/>
        </p:nvSpPr>
        <p:spPr>
          <a:xfrm>
            <a:off x="2304288" y="4828032"/>
            <a:ext cx="1481328" cy="347472"/>
          </a:xfrm>
          <a:prstGeom prst="roundRect">
            <a:avLst>
              <a:gd name="adj" fmla="val 21053"/>
            </a:avLst>
          </a:prstGeom>
          <a:solidFill>
            <a:srgbClr val="FFFDF9"/>
          </a:solidFill>
          <a:ln w="12700">
            <a:solidFill>
              <a:srgbClr val="E9DBD0"/>
            </a:solidFill>
            <a:prstDash val="solid"/>
          </a:ln>
        </p:spPr>
      </p:sp>
      <p:sp>
        <p:nvSpPr>
          <p:cNvPr id="18" name="Text 16"/>
          <p:cNvSpPr/>
          <p:nvPr/>
        </p:nvSpPr>
        <p:spPr>
          <a:xfrm>
            <a:off x="2304288" y="4896612"/>
            <a:ext cx="1481328" cy="182880"/>
          </a:xfrm>
          <a:prstGeom prst="rect">
            <a:avLst/>
          </a:prstGeom>
          <a:noFill/>
        </p:spPr>
        <p:txBody>
          <a:bodyPr wrap="square" lIns="0" tIns="0" rIns="0" bIns="0" rtlCol="0" anchor="ctr"/>
          <a:lstStyle/>
          <a:p>
            <a:pPr marL="0" indent="0" algn="ctr">
              <a:buNone/>
            </a:pPr>
            <a:r>
              <a:rPr lang="en-US" sz="900" b="1" dirty="0">
                <a:solidFill>
                  <a:srgbClr val="5B4338"/>
                </a:solidFill>
                <a:latin typeface="Hiragino Sans GB" panose="020B0300000000000000" pitchFamily="34" charset="-122"/>
                <a:ea typeface="Hiragino Sans GB" panose="020B0300000000000000" pitchFamily="34" charset="-122"/>
                <a:cs typeface="Hiragino Sans GB" panose="020B0300000000000000" pitchFamily="34" charset="-120"/>
              </a:rPr>
              <a:t>数字手帐编排</a:t>
            </a:r>
            <a:endParaRPr lang="en-US" sz="900" dirty="0"/>
          </a:p>
        </p:txBody>
      </p:sp>
      <p:sp>
        <p:nvSpPr>
          <p:cNvPr id="19" name="Shape 17"/>
          <p:cNvSpPr/>
          <p:nvPr/>
        </p:nvSpPr>
        <p:spPr>
          <a:xfrm>
            <a:off x="3904488" y="4828032"/>
            <a:ext cx="1481328" cy="347472"/>
          </a:xfrm>
          <a:prstGeom prst="roundRect">
            <a:avLst>
              <a:gd name="adj" fmla="val 21053"/>
            </a:avLst>
          </a:prstGeom>
          <a:solidFill>
            <a:srgbClr val="FFFDF9"/>
          </a:solidFill>
          <a:ln w="12700">
            <a:solidFill>
              <a:srgbClr val="E9DBD0"/>
            </a:solidFill>
            <a:prstDash val="solid"/>
          </a:ln>
        </p:spPr>
      </p:sp>
      <p:sp>
        <p:nvSpPr>
          <p:cNvPr id="20" name="Text 18"/>
          <p:cNvSpPr/>
          <p:nvPr/>
        </p:nvSpPr>
        <p:spPr>
          <a:xfrm>
            <a:off x="3904488" y="4896612"/>
            <a:ext cx="1481328" cy="182880"/>
          </a:xfrm>
          <a:prstGeom prst="rect">
            <a:avLst/>
          </a:prstGeom>
          <a:noFill/>
        </p:spPr>
        <p:txBody>
          <a:bodyPr wrap="square" lIns="0" tIns="0" rIns="0" bIns="0" rtlCol="0" anchor="ctr"/>
          <a:lstStyle/>
          <a:p>
            <a:pPr marL="0" indent="0" algn="ctr">
              <a:buNone/>
            </a:pPr>
            <a:r>
              <a:rPr lang="en-US" sz="900" b="1" dirty="0">
                <a:solidFill>
                  <a:srgbClr val="5B4338"/>
                </a:solidFill>
                <a:latin typeface="Hiragino Sans GB" panose="020B0300000000000000" pitchFamily="34" charset="-122"/>
                <a:ea typeface="Hiragino Sans GB" panose="020B0300000000000000" pitchFamily="34" charset="-122"/>
                <a:cs typeface="Hiragino Sans GB" panose="020B0300000000000000" pitchFamily="34" charset="-120"/>
              </a:rPr>
              <a:t>共享足迹地图</a:t>
            </a:r>
            <a:endParaRPr lang="en-US" sz="900" dirty="0"/>
          </a:p>
        </p:txBody>
      </p:sp>
      <p:sp>
        <p:nvSpPr>
          <p:cNvPr id="21" name="Shape 19"/>
          <p:cNvSpPr/>
          <p:nvPr/>
        </p:nvSpPr>
        <p:spPr>
          <a:xfrm>
            <a:off x="859536" y="5504688"/>
            <a:ext cx="4645152" cy="658368"/>
          </a:xfrm>
          <a:prstGeom prst="roundRect">
            <a:avLst>
              <a:gd name="adj" fmla="val 16667"/>
            </a:avLst>
          </a:prstGeom>
          <a:solidFill>
            <a:srgbClr val="FBF5EF"/>
          </a:solidFill>
          <a:ln w="12700">
            <a:solidFill>
              <a:srgbClr val="E9DBD0"/>
            </a:solidFill>
            <a:prstDash val="solid"/>
          </a:ln>
        </p:spPr>
      </p:sp>
      <p:sp>
        <p:nvSpPr>
          <p:cNvPr id="22" name="Text 20"/>
          <p:cNvSpPr/>
          <p:nvPr/>
        </p:nvSpPr>
        <p:spPr>
          <a:xfrm>
            <a:off x="1078992" y="5650992"/>
            <a:ext cx="640080" cy="164592"/>
          </a:xfrm>
          <a:prstGeom prst="rect">
            <a:avLst/>
          </a:prstGeom>
          <a:noFill/>
        </p:spPr>
        <p:txBody>
          <a:bodyPr wrap="square" lIns="0" tIns="0" rIns="0" bIns="0" rtlCol="0" anchor="ctr"/>
          <a:lstStyle/>
          <a:p>
            <a:pPr marL="0" indent="0">
              <a:buNone/>
            </a:pPr>
            <a:r>
              <a:rPr lang="en-US" sz="850" b="1" dirty="0">
                <a:solidFill>
                  <a:srgbClr val="866F63"/>
                </a:solidFill>
                <a:latin typeface="Avenir Next" panose="020B0803020202020204" pitchFamily="34" charset="0"/>
                <a:ea typeface="Avenir Next" panose="020B0803020202020204" pitchFamily="34" charset="-122"/>
                <a:cs typeface="Avenir Next" panose="020B0803020202020204" pitchFamily="34" charset="-120"/>
              </a:rPr>
              <a:t>当前阶段</a:t>
            </a:r>
            <a:endParaRPr lang="en-US" sz="850" dirty="0"/>
          </a:p>
        </p:txBody>
      </p:sp>
      <p:sp>
        <p:nvSpPr>
          <p:cNvPr id="23" name="Text 21"/>
          <p:cNvSpPr/>
          <p:nvPr/>
        </p:nvSpPr>
        <p:spPr>
          <a:xfrm>
            <a:off x="1078992" y="5861304"/>
            <a:ext cx="3108960" cy="219456"/>
          </a:xfrm>
          <a:prstGeom prst="rect">
            <a:avLst/>
          </a:prstGeom>
          <a:noFill/>
        </p:spPr>
        <p:txBody>
          <a:bodyPr wrap="square" lIns="0" tIns="0" rIns="0" bIns="0" rtlCol="0" anchor="ctr"/>
          <a:lstStyle/>
          <a:p>
            <a:pPr marL="0" indent="0">
              <a:buNone/>
            </a:pPr>
            <a:r>
              <a:rPr lang="en-US" sz="1400" b="1" dirty="0">
                <a:solidFill>
                  <a:srgbClr val="5B4338"/>
                </a:solidFill>
                <a:latin typeface="Hiragino Sans GB" panose="020B0300000000000000" pitchFamily="34" charset="-122"/>
                <a:ea typeface="Hiragino Sans GB" panose="020B0300000000000000" pitchFamily="34" charset="-122"/>
                <a:cs typeface="Hiragino Sans GB" panose="020B0300000000000000" pitchFamily="34" charset="-120"/>
              </a:rPr>
              <a:t>PoC 已验证，MVP 主流程已跑通</a:t>
            </a:r>
            <a:endParaRPr lang="en-US" sz="1400" dirty="0"/>
          </a:p>
        </p:txBody>
      </p:sp>
      <p:pic>
        <p:nvPicPr>
          <p:cNvPr id="24" name="Image 0" descr="/Users/ronggang/code/funcode/yingji/docs/【项目介绍】印迹 Memoseal   -By HaiSnap/images/【项目介绍】印迹 Memoseal   -By HaiSnap-image-7.png"/>
          <p:cNvPicPr>
            <a:picLocks noChangeAspect="1"/>
          </p:cNvPicPr>
          <p:nvPr/>
        </p:nvPicPr>
        <p:blipFill>
          <a:blip r:embed="rId1"/>
          <a:srcRect/>
          <a:stretch>
            <a:fillRect/>
          </a:stretch>
        </p:blipFill>
        <p:spPr>
          <a:xfrm>
            <a:off x="6400800" y="877824"/>
            <a:ext cx="4736592" cy="1810512"/>
          </a:xfrm>
          <a:prstGeom prst="rect">
            <a:avLst/>
          </a:prstGeom>
        </p:spPr>
      </p:pic>
      <p:sp>
        <p:nvSpPr>
          <p:cNvPr id="25" name="Shape 22"/>
          <p:cNvSpPr/>
          <p:nvPr/>
        </p:nvSpPr>
        <p:spPr>
          <a:xfrm>
            <a:off x="6643370" y="2116455"/>
            <a:ext cx="2234565" cy="3919855"/>
          </a:xfrm>
          <a:prstGeom prst="roundRect">
            <a:avLst>
              <a:gd name="adj" fmla="val 4706"/>
            </a:avLst>
          </a:prstGeom>
          <a:solidFill>
            <a:srgbClr val="FFFDF9"/>
          </a:solidFill>
          <a:ln w="12700">
            <a:solidFill>
              <a:srgbClr val="E9DBD0"/>
            </a:solidFill>
            <a:prstDash val="solid"/>
          </a:ln>
        </p:spPr>
      </p:sp>
      <p:pic>
        <p:nvPicPr>
          <p:cNvPr id="26" name="Image 1" descr="/Users/ronggang/Downloads/微信图片_20260328155315_1151_149.jpg微信图片_20260328155315_1151_149"/>
          <p:cNvPicPr>
            <a:picLocks noChangeAspect="1"/>
          </p:cNvPicPr>
          <p:nvPr/>
        </p:nvPicPr>
        <p:blipFill>
          <a:blip r:embed="rId2"/>
          <a:srcRect t="8067" b="51219"/>
          <a:stretch>
            <a:fillRect/>
          </a:stretch>
        </p:blipFill>
        <p:spPr>
          <a:xfrm>
            <a:off x="6734175" y="2195830"/>
            <a:ext cx="2049780" cy="3738245"/>
          </a:xfrm>
          <a:prstGeom prst="rect">
            <a:avLst/>
          </a:prstGeom>
        </p:spPr>
      </p:pic>
      <p:sp>
        <p:nvSpPr>
          <p:cNvPr id="29" name="Shape 24"/>
          <p:cNvSpPr/>
          <p:nvPr/>
        </p:nvSpPr>
        <p:spPr>
          <a:xfrm>
            <a:off x="8747125" y="2311400"/>
            <a:ext cx="2204720" cy="3963670"/>
          </a:xfrm>
          <a:prstGeom prst="roundRect">
            <a:avLst>
              <a:gd name="adj" fmla="val 7895"/>
            </a:avLst>
          </a:prstGeom>
          <a:solidFill>
            <a:srgbClr val="FFFDF9"/>
          </a:solidFill>
          <a:ln w="12700">
            <a:solidFill>
              <a:srgbClr val="E9DBD0"/>
            </a:solidFill>
            <a:prstDash val="solid"/>
          </a:ln>
        </p:spPr>
      </p:sp>
      <p:pic>
        <p:nvPicPr>
          <p:cNvPr id="30" name="Image 3" descr="/Users/ronggang/Downloads/微信图片_20260328155318_1154_149.jpg微信图片_20260328155318_1154_149"/>
          <p:cNvPicPr>
            <a:picLocks noChangeAspect="1"/>
          </p:cNvPicPr>
          <p:nvPr/>
        </p:nvPicPr>
        <p:blipFill>
          <a:blip r:embed="rId3"/>
          <a:srcRect t="10827" b="5619"/>
          <a:stretch>
            <a:fillRect/>
          </a:stretch>
        </p:blipFill>
        <p:spPr>
          <a:xfrm>
            <a:off x="8855710" y="2429510"/>
            <a:ext cx="2012950" cy="372681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17780"/>
            <a:ext cx="12191695" cy="6858000"/>
          </a:xfrm>
          <a:prstGeom prst="rect">
            <a:avLst/>
          </a:prstGeom>
          <a:solidFill>
            <a:srgbClr val="F7F0E8"/>
          </a:solidFill>
          <a:ln w="12700">
            <a:solidFill>
              <a:srgbClr val="F7F0E8">
                <a:alpha val="0"/>
              </a:srgbClr>
            </a:solidFill>
            <a:prstDash val="solid"/>
          </a:ln>
        </p:spPr>
      </p:sp>
      <p:sp>
        <p:nvSpPr>
          <p:cNvPr id="3" name="Shape 1"/>
          <p:cNvSpPr/>
          <p:nvPr/>
        </p:nvSpPr>
        <p:spPr>
          <a:xfrm>
            <a:off x="9784080" y="-822960"/>
            <a:ext cx="3474720" cy="2468880"/>
          </a:xfrm>
          <a:prstGeom prst="ellipse">
            <a:avLst/>
          </a:prstGeom>
          <a:solidFill>
            <a:srgbClr val="F0D7D2">
              <a:alpha val="42000"/>
            </a:srgbClr>
          </a:solidFill>
          <a:ln w="12700">
            <a:solidFill>
              <a:srgbClr val="F7F0E8">
                <a:alpha val="0"/>
              </a:srgbClr>
            </a:solidFill>
            <a:prstDash val="solid"/>
          </a:ln>
        </p:spPr>
      </p:sp>
      <p:sp>
        <p:nvSpPr>
          <p:cNvPr id="4" name="Shape 2"/>
          <p:cNvSpPr/>
          <p:nvPr/>
        </p:nvSpPr>
        <p:spPr>
          <a:xfrm>
            <a:off x="-731520" y="5577840"/>
            <a:ext cx="2743200" cy="1920240"/>
          </a:xfrm>
          <a:prstGeom prst="ellipse">
            <a:avLst/>
          </a:prstGeom>
          <a:solidFill>
            <a:srgbClr val="E9C8C0">
              <a:alpha val="28000"/>
            </a:srgbClr>
          </a:solidFill>
          <a:ln w="12700">
            <a:solidFill>
              <a:srgbClr val="F7F0E8">
                <a:alpha val="0"/>
              </a:srgbClr>
            </a:solidFill>
            <a:prstDash val="solid"/>
          </a:ln>
        </p:spPr>
      </p:sp>
      <p:sp>
        <p:nvSpPr>
          <p:cNvPr id="5" name="Shape 3"/>
          <p:cNvSpPr/>
          <p:nvPr/>
        </p:nvSpPr>
        <p:spPr>
          <a:xfrm>
            <a:off x="713232" y="612648"/>
            <a:ext cx="310896" cy="0"/>
          </a:xfrm>
          <a:prstGeom prst="line">
            <a:avLst/>
          </a:prstGeom>
          <a:noFill/>
          <a:ln w="12700">
            <a:solidFill>
              <a:srgbClr val="C46467"/>
            </a:solidFill>
            <a:prstDash val="solid"/>
          </a:ln>
        </p:spPr>
      </p:sp>
      <p:sp>
        <p:nvSpPr>
          <p:cNvPr id="6" name="Text 4"/>
          <p:cNvSpPr/>
          <p:nvPr/>
        </p:nvSpPr>
        <p:spPr>
          <a:xfrm>
            <a:off x="1069848" y="429768"/>
            <a:ext cx="4206240" cy="201168"/>
          </a:xfrm>
          <a:prstGeom prst="rect">
            <a:avLst/>
          </a:prstGeom>
          <a:noFill/>
        </p:spPr>
        <p:txBody>
          <a:bodyPr wrap="square" rtlCol="0" anchor="ctr"/>
          <a:lstStyle/>
          <a:p>
            <a:pPr marL="0" indent="0">
              <a:buNone/>
            </a:pPr>
            <a:r>
              <a:rPr lang="en-US" sz="900" b="1" dirty="0">
                <a:solidFill>
                  <a:srgbClr val="866F63"/>
                </a:solidFill>
                <a:latin typeface="Avenir Next" panose="020B0803020202020204" pitchFamily="34" charset="0"/>
                <a:ea typeface="Avenir Next" panose="020B0803020202020204" pitchFamily="34" charset="-122"/>
                <a:cs typeface="Avenir Next" panose="020B0803020202020204" pitchFamily="34" charset="-120"/>
              </a:rPr>
              <a:t>WHY IT MATTERS</a:t>
            </a:r>
            <a:endParaRPr lang="en-US" sz="900" dirty="0"/>
          </a:p>
        </p:txBody>
      </p:sp>
      <p:sp>
        <p:nvSpPr>
          <p:cNvPr id="7" name="Text 5"/>
          <p:cNvSpPr/>
          <p:nvPr/>
        </p:nvSpPr>
        <p:spPr>
          <a:xfrm>
            <a:off x="11155680" y="384048"/>
            <a:ext cx="329184" cy="219456"/>
          </a:xfrm>
          <a:prstGeom prst="rect">
            <a:avLst/>
          </a:prstGeom>
          <a:noFill/>
        </p:spPr>
        <p:txBody>
          <a:bodyPr wrap="square" rtlCol="0" anchor="ctr"/>
          <a:lstStyle/>
          <a:p>
            <a:pPr marL="0" indent="0" algn="r">
              <a:buNone/>
            </a:pPr>
            <a:r>
              <a:rPr lang="en-US" sz="1000" b="1" dirty="0">
                <a:solidFill>
                  <a:srgbClr val="C46467"/>
                </a:solidFill>
                <a:latin typeface="Avenir Next" panose="020B0803020202020204" pitchFamily="34" charset="0"/>
                <a:ea typeface="Avenir Next" panose="020B0803020202020204" pitchFamily="34" charset="-122"/>
                <a:cs typeface="Avenir Next" panose="020B0803020202020204" pitchFamily="34" charset="-120"/>
              </a:rPr>
              <a:t>02</a:t>
            </a:r>
            <a:endParaRPr lang="en-US" sz="1000" dirty="0"/>
          </a:p>
        </p:txBody>
      </p:sp>
      <p:sp>
        <p:nvSpPr>
          <p:cNvPr id="8" name="Text 6"/>
          <p:cNvSpPr/>
          <p:nvPr/>
        </p:nvSpPr>
        <p:spPr>
          <a:xfrm>
            <a:off x="822960" y="868680"/>
            <a:ext cx="9784080" cy="621792"/>
          </a:xfrm>
          <a:prstGeom prst="rect">
            <a:avLst/>
          </a:prstGeom>
          <a:noFill/>
        </p:spPr>
        <p:txBody>
          <a:bodyPr wrap="square" lIns="0" tIns="0" rIns="0" bIns="0" rtlCol="0" anchor="ctr"/>
          <a:lstStyle/>
          <a:p>
            <a:pPr marL="0" indent="0">
              <a:buNone/>
            </a:pPr>
            <a:r>
              <a:rPr lang="en-US" sz="2200" b="1" dirty="0">
                <a:solidFill>
                  <a:srgbClr val="5B4338"/>
                </a:solidFill>
                <a:latin typeface="Songti SC" panose="02010800040101010101" pitchFamily="34" charset="-122"/>
                <a:ea typeface="Songti SC" panose="02010800040101010101" pitchFamily="34" charset="-122"/>
                <a:cs typeface="Songti SC" panose="02010800040101010101" pitchFamily="34" charset="-120"/>
              </a:rPr>
              <a:t>为什么这件产品有意义：旅行里最有感觉的东西，往往最难被好好留下</a:t>
            </a:r>
            <a:endParaRPr lang="en-US" sz="2200" dirty="0"/>
          </a:p>
        </p:txBody>
      </p:sp>
      <p:sp>
        <p:nvSpPr>
          <p:cNvPr id="9" name="Text 7"/>
          <p:cNvSpPr/>
          <p:nvPr/>
        </p:nvSpPr>
        <p:spPr>
          <a:xfrm>
            <a:off x="822960" y="1527048"/>
            <a:ext cx="7498080" cy="420624"/>
          </a:xfrm>
          <a:prstGeom prst="rect">
            <a:avLst/>
          </a:prstGeom>
          <a:noFill/>
        </p:spPr>
        <p:txBody>
          <a:bodyPr wrap="square" lIns="0" tIns="0" rIns="0" bIns="0" rtlCol="0" anchor="ctr"/>
          <a:lstStyle/>
          <a:p>
            <a:pPr marL="0" indent="0">
              <a:buNone/>
            </a:pPr>
            <a:r>
              <a:rPr lang="en-US" sz="1050" dirty="0">
                <a:solidFill>
                  <a:srgbClr val="866F63"/>
                </a:solidFill>
                <a:latin typeface="Hiragino Sans GB" panose="020B0300000000000000" pitchFamily="34" charset="-122"/>
                <a:ea typeface="Hiragino Sans GB" panose="020B0300000000000000" pitchFamily="34" charset="-122"/>
                <a:cs typeface="Hiragino Sans GB" panose="020B0300000000000000" pitchFamily="34" charset="-120"/>
              </a:rPr>
              <a:t>今天最常见的几种保存方式，要么有仪式感但不易沉淀，要么容易发布却不够完整。</a:t>
            </a:r>
            <a:endParaRPr lang="en-US" sz="1050" dirty="0"/>
          </a:p>
        </p:txBody>
      </p:sp>
      <p:sp>
        <p:nvSpPr>
          <p:cNvPr id="10" name="Shape 8"/>
          <p:cNvSpPr/>
          <p:nvPr/>
        </p:nvSpPr>
        <p:spPr>
          <a:xfrm>
            <a:off x="1348740" y="2046732"/>
            <a:ext cx="2761488" cy="2697480"/>
          </a:xfrm>
          <a:prstGeom prst="roundRect">
            <a:avLst>
              <a:gd name="adj" fmla="val 4068"/>
            </a:avLst>
          </a:prstGeom>
          <a:solidFill>
            <a:srgbClr val="FFFDF9"/>
          </a:solidFill>
          <a:ln w="12700">
            <a:solidFill>
              <a:srgbClr val="E9DBD0"/>
            </a:solidFill>
            <a:prstDash val="solid"/>
          </a:ln>
        </p:spPr>
      </p:sp>
      <p:sp>
        <p:nvSpPr>
          <p:cNvPr id="11" name="Shape 9"/>
          <p:cNvSpPr/>
          <p:nvPr/>
        </p:nvSpPr>
        <p:spPr>
          <a:xfrm>
            <a:off x="1577340" y="2302764"/>
            <a:ext cx="420624" cy="420624"/>
          </a:xfrm>
          <a:prstGeom prst="ellipse">
            <a:avLst/>
          </a:prstGeom>
          <a:solidFill>
            <a:srgbClr val="C46467"/>
          </a:solidFill>
          <a:ln w="12700">
            <a:solidFill>
              <a:srgbClr val="C46467">
                <a:alpha val="0"/>
              </a:srgbClr>
            </a:solidFill>
            <a:prstDash val="solid"/>
          </a:ln>
        </p:spPr>
      </p:sp>
      <p:sp>
        <p:nvSpPr>
          <p:cNvPr id="12" name="Text 10"/>
          <p:cNvSpPr/>
          <p:nvPr/>
        </p:nvSpPr>
        <p:spPr>
          <a:xfrm>
            <a:off x="1577340" y="2468372"/>
            <a:ext cx="420624" cy="109728"/>
          </a:xfrm>
          <a:prstGeom prst="rect">
            <a:avLst/>
          </a:prstGeom>
          <a:noFill/>
        </p:spPr>
        <p:txBody>
          <a:bodyPr wrap="square" lIns="0" tIns="0" rIns="0" bIns="0" rtlCol="0" anchor="ctr"/>
          <a:lstStyle/>
          <a:p>
            <a:pPr marL="0" indent="0" algn="ctr">
              <a:buNone/>
            </a:pPr>
            <a:r>
              <a:rPr lang="en-US" sz="850" b="1" dirty="0">
                <a:solidFill>
                  <a:srgbClr val="FFFFFF"/>
                </a:solidFill>
                <a:latin typeface="Avenir Next" panose="020B0803020202020204" pitchFamily="34" charset="0"/>
                <a:ea typeface="Avenir Next" panose="020B0803020202020204" pitchFamily="34" charset="-122"/>
                <a:cs typeface="Avenir Next" panose="020B0803020202020204" pitchFamily="34" charset="-120"/>
              </a:rPr>
              <a:t>01</a:t>
            </a:r>
            <a:endParaRPr lang="en-US" sz="850" dirty="0"/>
          </a:p>
        </p:txBody>
      </p:sp>
      <p:sp>
        <p:nvSpPr>
          <p:cNvPr id="13" name="Text 11"/>
          <p:cNvSpPr/>
          <p:nvPr/>
        </p:nvSpPr>
        <p:spPr>
          <a:xfrm>
            <a:off x="2125980" y="2440813"/>
            <a:ext cx="1371600" cy="182880"/>
          </a:xfrm>
          <a:prstGeom prst="rect">
            <a:avLst/>
          </a:prstGeom>
          <a:noFill/>
        </p:spPr>
        <p:txBody>
          <a:bodyPr wrap="square" lIns="0" tIns="0" rIns="0" bIns="0" rtlCol="0" anchor="ctr"/>
          <a:lstStyle/>
          <a:p>
            <a:pPr marL="0" indent="0">
              <a:buNone/>
            </a:pPr>
            <a:r>
              <a:rPr lang="en-US" sz="2000" b="1" dirty="0">
                <a:solidFill>
                  <a:srgbClr val="5B4338"/>
                </a:solidFill>
                <a:latin typeface="Hiragino Sans GB" panose="020B0300000000000000" pitchFamily="34" charset="-122"/>
                <a:ea typeface="Hiragino Sans GB" panose="020B0300000000000000" pitchFamily="34" charset="-122"/>
                <a:cs typeface="Hiragino Sans GB" panose="020B0300000000000000" pitchFamily="34" charset="-120"/>
              </a:rPr>
              <a:t>线下集章</a:t>
            </a:r>
            <a:endParaRPr lang="en-US" sz="2000" b="1" dirty="0">
              <a:solidFill>
                <a:srgbClr val="5B4338"/>
              </a:solidFill>
              <a:latin typeface="Hiragino Sans GB" panose="020B0300000000000000" pitchFamily="34" charset="-122"/>
              <a:ea typeface="Hiragino Sans GB" panose="020B0300000000000000" pitchFamily="34" charset="-122"/>
              <a:cs typeface="Hiragino Sans GB" panose="020B0300000000000000" pitchFamily="34" charset="-120"/>
            </a:endParaRPr>
          </a:p>
        </p:txBody>
      </p:sp>
      <p:sp>
        <p:nvSpPr>
          <p:cNvPr id="14" name="Shape 12"/>
          <p:cNvSpPr/>
          <p:nvPr/>
        </p:nvSpPr>
        <p:spPr>
          <a:xfrm>
            <a:off x="1586230" y="2930652"/>
            <a:ext cx="1371600" cy="347472"/>
          </a:xfrm>
          <a:prstGeom prst="roundRect">
            <a:avLst>
              <a:gd name="adj" fmla="val 21053"/>
            </a:avLst>
          </a:prstGeom>
          <a:solidFill>
            <a:srgbClr val="FBF5EF"/>
          </a:solidFill>
          <a:ln w="12700">
            <a:solidFill>
              <a:srgbClr val="E9DBD0"/>
            </a:solidFill>
            <a:prstDash val="solid"/>
          </a:ln>
        </p:spPr>
      </p:sp>
      <p:sp>
        <p:nvSpPr>
          <p:cNvPr id="15" name="Text 13"/>
          <p:cNvSpPr/>
          <p:nvPr/>
        </p:nvSpPr>
        <p:spPr>
          <a:xfrm>
            <a:off x="1586230" y="2999232"/>
            <a:ext cx="1371600" cy="182880"/>
          </a:xfrm>
          <a:prstGeom prst="rect">
            <a:avLst/>
          </a:prstGeom>
          <a:noFill/>
        </p:spPr>
        <p:txBody>
          <a:bodyPr wrap="square" lIns="0" tIns="0" rIns="0" bIns="0" rtlCol="0" anchor="ctr"/>
          <a:lstStyle/>
          <a:p>
            <a:pPr marL="0" indent="0" algn="ctr">
              <a:buNone/>
            </a:pPr>
            <a:r>
              <a:rPr lang="en-US" sz="850" b="1" dirty="0">
                <a:solidFill>
                  <a:srgbClr val="866F63"/>
                </a:solidFill>
                <a:latin typeface="Hiragino Sans GB" panose="020B0300000000000000" pitchFamily="34" charset="-122"/>
                <a:ea typeface="Hiragino Sans GB" panose="020B0300000000000000" pitchFamily="34" charset="-122"/>
                <a:cs typeface="Hiragino Sans GB" panose="020B0300000000000000" pitchFamily="34" charset="-120"/>
              </a:rPr>
              <a:t>有仪式感 / 难整理</a:t>
            </a:r>
            <a:endParaRPr lang="en-US" sz="850" dirty="0"/>
          </a:p>
        </p:txBody>
      </p:sp>
      <p:sp>
        <p:nvSpPr>
          <p:cNvPr id="16" name="Text 14"/>
          <p:cNvSpPr/>
          <p:nvPr/>
        </p:nvSpPr>
        <p:spPr>
          <a:xfrm>
            <a:off x="1577340" y="3299460"/>
            <a:ext cx="2267712" cy="969264"/>
          </a:xfrm>
          <a:prstGeom prst="rect">
            <a:avLst/>
          </a:prstGeom>
          <a:noFill/>
        </p:spPr>
        <p:txBody>
          <a:bodyPr wrap="square" lIns="0" tIns="0" rIns="0" bIns="0" rtlCol="0" anchor="ctr"/>
          <a:lstStyle/>
          <a:p>
            <a:pPr marL="0" indent="0">
              <a:lnSpc>
                <a:spcPct val="130000"/>
              </a:lnSpc>
              <a:buNone/>
            </a:pPr>
            <a:r>
              <a:rPr lang="en-US" sz="1100" dirty="0">
                <a:solidFill>
                  <a:srgbClr val="866F63"/>
                </a:solidFill>
                <a:latin typeface="Hiragino Sans GB" panose="020B0300000000000000" pitchFamily="34" charset="-122"/>
                <a:ea typeface="Hiragino Sans GB" panose="020B0300000000000000" pitchFamily="34" charset="-122"/>
                <a:cs typeface="Hiragino Sans GB" panose="020B0300000000000000" pitchFamily="34" charset="-120"/>
              </a:rPr>
              <a:t>盖章会让旅程更有参与感，但它常常停留在现场和纸本里，之后很少被系统整理和再次回看。</a:t>
            </a:r>
            <a:endParaRPr lang="en-US" sz="1100" dirty="0"/>
          </a:p>
        </p:txBody>
      </p:sp>
      <p:sp>
        <p:nvSpPr>
          <p:cNvPr id="17" name="Shape 15"/>
          <p:cNvSpPr/>
          <p:nvPr/>
        </p:nvSpPr>
        <p:spPr>
          <a:xfrm>
            <a:off x="4549140" y="2046732"/>
            <a:ext cx="2761488" cy="2697480"/>
          </a:xfrm>
          <a:prstGeom prst="roundRect">
            <a:avLst>
              <a:gd name="adj" fmla="val 4068"/>
            </a:avLst>
          </a:prstGeom>
          <a:solidFill>
            <a:srgbClr val="FFFDF9"/>
          </a:solidFill>
          <a:ln w="12700">
            <a:solidFill>
              <a:srgbClr val="E9DBD0"/>
            </a:solidFill>
            <a:prstDash val="solid"/>
          </a:ln>
        </p:spPr>
      </p:sp>
      <p:sp>
        <p:nvSpPr>
          <p:cNvPr id="18" name="Shape 16"/>
          <p:cNvSpPr/>
          <p:nvPr/>
        </p:nvSpPr>
        <p:spPr>
          <a:xfrm>
            <a:off x="4777740" y="2302764"/>
            <a:ext cx="420624" cy="420624"/>
          </a:xfrm>
          <a:prstGeom prst="ellipse">
            <a:avLst/>
          </a:prstGeom>
          <a:solidFill>
            <a:srgbClr val="CDA86C"/>
          </a:solidFill>
          <a:ln w="12700">
            <a:solidFill>
              <a:srgbClr val="CDA86C">
                <a:alpha val="0"/>
              </a:srgbClr>
            </a:solidFill>
            <a:prstDash val="solid"/>
          </a:ln>
        </p:spPr>
      </p:sp>
      <p:sp>
        <p:nvSpPr>
          <p:cNvPr id="19" name="Text 17"/>
          <p:cNvSpPr/>
          <p:nvPr/>
        </p:nvSpPr>
        <p:spPr>
          <a:xfrm>
            <a:off x="4777740" y="2468372"/>
            <a:ext cx="420624" cy="109728"/>
          </a:xfrm>
          <a:prstGeom prst="rect">
            <a:avLst/>
          </a:prstGeom>
          <a:noFill/>
        </p:spPr>
        <p:txBody>
          <a:bodyPr wrap="square" lIns="0" tIns="0" rIns="0" bIns="0" rtlCol="0" anchor="ctr"/>
          <a:lstStyle/>
          <a:p>
            <a:pPr marL="0" indent="0" algn="ctr">
              <a:buNone/>
            </a:pPr>
            <a:r>
              <a:rPr lang="en-US" sz="850" b="1" dirty="0">
                <a:solidFill>
                  <a:srgbClr val="FFFFFF"/>
                </a:solidFill>
                <a:latin typeface="Avenir Next" panose="020B0803020202020204" pitchFamily="34" charset="0"/>
                <a:ea typeface="Avenir Next" panose="020B0803020202020204" pitchFamily="34" charset="-122"/>
                <a:cs typeface="Avenir Next" panose="020B0803020202020204" pitchFamily="34" charset="-120"/>
              </a:rPr>
              <a:t>02</a:t>
            </a:r>
            <a:endParaRPr lang="en-US" sz="850" dirty="0"/>
          </a:p>
        </p:txBody>
      </p:sp>
      <p:sp>
        <p:nvSpPr>
          <p:cNvPr id="20" name="Text 18"/>
          <p:cNvSpPr/>
          <p:nvPr/>
        </p:nvSpPr>
        <p:spPr>
          <a:xfrm>
            <a:off x="5326380" y="2440813"/>
            <a:ext cx="1371600" cy="182880"/>
          </a:xfrm>
          <a:prstGeom prst="rect">
            <a:avLst/>
          </a:prstGeom>
          <a:noFill/>
        </p:spPr>
        <p:txBody>
          <a:bodyPr wrap="square" lIns="0" tIns="0" rIns="0" bIns="0" rtlCol="0" anchor="ctr"/>
          <a:lstStyle/>
          <a:p>
            <a:pPr marL="0" indent="0">
              <a:buNone/>
            </a:pPr>
            <a:r>
              <a:rPr lang="en-US" sz="2000" b="1" dirty="0">
                <a:solidFill>
                  <a:srgbClr val="5B4338"/>
                </a:solidFill>
                <a:latin typeface="Hiragino Sans GB" panose="020B0300000000000000" pitchFamily="34" charset="-122"/>
                <a:ea typeface="Hiragino Sans GB" panose="020B0300000000000000" pitchFamily="34" charset="-122"/>
                <a:cs typeface="Hiragino Sans GB" panose="020B0300000000000000" pitchFamily="34" charset="-120"/>
              </a:rPr>
              <a:t>手机相册</a:t>
            </a:r>
            <a:endParaRPr lang="en-US" sz="2000" b="1" dirty="0">
              <a:solidFill>
                <a:srgbClr val="5B4338"/>
              </a:solidFill>
              <a:latin typeface="Hiragino Sans GB" panose="020B0300000000000000" pitchFamily="34" charset="-122"/>
              <a:ea typeface="Hiragino Sans GB" panose="020B0300000000000000" pitchFamily="34" charset="-122"/>
              <a:cs typeface="Hiragino Sans GB" panose="020B0300000000000000" pitchFamily="34" charset="-120"/>
            </a:endParaRPr>
          </a:p>
        </p:txBody>
      </p:sp>
      <p:sp>
        <p:nvSpPr>
          <p:cNvPr id="21" name="Shape 19"/>
          <p:cNvSpPr/>
          <p:nvPr/>
        </p:nvSpPr>
        <p:spPr>
          <a:xfrm>
            <a:off x="4786630" y="2930652"/>
            <a:ext cx="1371600" cy="347472"/>
          </a:xfrm>
          <a:prstGeom prst="roundRect">
            <a:avLst>
              <a:gd name="adj" fmla="val 21053"/>
            </a:avLst>
          </a:prstGeom>
          <a:solidFill>
            <a:srgbClr val="FBF5EF"/>
          </a:solidFill>
          <a:ln w="12700">
            <a:solidFill>
              <a:srgbClr val="E9DBD0"/>
            </a:solidFill>
            <a:prstDash val="solid"/>
          </a:ln>
        </p:spPr>
      </p:sp>
      <p:sp>
        <p:nvSpPr>
          <p:cNvPr id="22" name="Text 20"/>
          <p:cNvSpPr/>
          <p:nvPr/>
        </p:nvSpPr>
        <p:spPr>
          <a:xfrm>
            <a:off x="4786630" y="2999232"/>
            <a:ext cx="1371600" cy="182880"/>
          </a:xfrm>
          <a:prstGeom prst="rect">
            <a:avLst/>
          </a:prstGeom>
          <a:noFill/>
        </p:spPr>
        <p:txBody>
          <a:bodyPr wrap="square" lIns="0" tIns="0" rIns="0" bIns="0" rtlCol="0" anchor="ctr"/>
          <a:lstStyle/>
          <a:p>
            <a:pPr marL="0" indent="0" algn="ctr">
              <a:buNone/>
            </a:pPr>
            <a:r>
              <a:rPr lang="en-US" sz="850" b="1" dirty="0">
                <a:solidFill>
                  <a:srgbClr val="866F63"/>
                </a:solidFill>
                <a:latin typeface="Hiragino Sans GB" panose="020B0300000000000000" pitchFamily="34" charset="-122"/>
                <a:ea typeface="Hiragino Sans GB" panose="020B0300000000000000" pitchFamily="34" charset="-122"/>
                <a:cs typeface="Hiragino Sans GB" panose="020B0300000000000000" pitchFamily="34" charset="-120"/>
              </a:rPr>
              <a:t>拍得很多 / 回看很少</a:t>
            </a:r>
            <a:endParaRPr lang="en-US" sz="850" dirty="0"/>
          </a:p>
        </p:txBody>
      </p:sp>
      <p:sp>
        <p:nvSpPr>
          <p:cNvPr id="23" name="Text 21"/>
          <p:cNvSpPr/>
          <p:nvPr/>
        </p:nvSpPr>
        <p:spPr>
          <a:xfrm>
            <a:off x="4777740" y="3299460"/>
            <a:ext cx="2267712" cy="969264"/>
          </a:xfrm>
          <a:prstGeom prst="rect">
            <a:avLst/>
          </a:prstGeom>
          <a:noFill/>
        </p:spPr>
        <p:txBody>
          <a:bodyPr wrap="square" lIns="0" tIns="0" rIns="0" bIns="0" rtlCol="0" anchor="ctr"/>
          <a:lstStyle/>
          <a:p>
            <a:pPr marL="0" indent="0">
              <a:lnSpc>
                <a:spcPct val="130000"/>
              </a:lnSpc>
              <a:buNone/>
            </a:pPr>
            <a:r>
              <a:rPr lang="en-US" sz="1100" dirty="0">
                <a:solidFill>
                  <a:srgbClr val="866F63"/>
                </a:solidFill>
                <a:latin typeface="Hiragino Sans GB" panose="020B0300000000000000" pitchFamily="34" charset="-122"/>
                <a:ea typeface="Hiragino Sans GB" panose="020B0300000000000000" pitchFamily="34" charset="-122"/>
                <a:cs typeface="Hiragino Sans GB" panose="020B0300000000000000" pitchFamily="34" charset="-120"/>
              </a:rPr>
              <a:t>旅行会留下大量照片，但它们通常散在相册里，难以变成一段有结构、有故事的个人记忆。</a:t>
            </a:r>
            <a:endParaRPr lang="en-US" sz="1100" dirty="0"/>
          </a:p>
        </p:txBody>
      </p:sp>
      <p:sp>
        <p:nvSpPr>
          <p:cNvPr id="24" name="Shape 22"/>
          <p:cNvSpPr/>
          <p:nvPr/>
        </p:nvSpPr>
        <p:spPr>
          <a:xfrm>
            <a:off x="7749540" y="2046732"/>
            <a:ext cx="2761488" cy="2697480"/>
          </a:xfrm>
          <a:prstGeom prst="roundRect">
            <a:avLst>
              <a:gd name="adj" fmla="val 4068"/>
            </a:avLst>
          </a:prstGeom>
          <a:solidFill>
            <a:srgbClr val="FFFDF9"/>
          </a:solidFill>
          <a:ln w="12700">
            <a:solidFill>
              <a:srgbClr val="E9DBD0"/>
            </a:solidFill>
            <a:prstDash val="solid"/>
          </a:ln>
        </p:spPr>
      </p:sp>
      <p:sp>
        <p:nvSpPr>
          <p:cNvPr id="25" name="Shape 23"/>
          <p:cNvSpPr/>
          <p:nvPr/>
        </p:nvSpPr>
        <p:spPr>
          <a:xfrm>
            <a:off x="7978140" y="2302764"/>
            <a:ext cx="420624" cy="420624"/>
          </a:xfrm>
          <a:prstGeom prst="ellipse">
            <a:avLst/>
          </a:prstGeom>
          <a:solidFill>
            <a:srgbClr val="5E7D68"/>
          </a:solidFill>
          <a:ln w="12700">
            <a:solidFill>
              <a:srgbClr val="5E7D68">
                <a:alpha val="0"/>
              </a:srgbClr>
            </a:solidFill>
            <a:prstDash val="solid"/>
          </a:ln>
        </p:spPr>
      </p:sp>
      <p:sp>
        <p:nvSpPr>
          <p:cNvPr id="26" name="Text 24"/>
          <p:cNvSpPr/>
          <p:nvPr/>
        </p:nvSpPr>
        <p:spPr>
          <a:xfrm>
            <a:off x="7978140" y="2468372"/>
            <a:ext cx="420624" cy="109728"/>
          </a:xfrm>
          <a:prstGeom prst="rect">
            <a:avLst/>
          </a:prstGeom>
          <a:noFill/>
        </p:spPr>
        <p:txBody>
          <a:bodyPr wrap="square" lIns="0" tIns="0" rIns="0" bIns="0" rtlCol="0" anchor="ctr"/>
          <a:lstStyle/>
          <a:p>
            <a:pPr marL="0" indent="0" algn="ctr">
              <a:buNone/>
            </a:pPr>
            <a:r>
              <a:rPr lang="en-US" sz="850" b="1" dirty="0">
                <a:solidFill>
                  <a:srgbClr val="FFFFFF"/>
                </a:solidFill>
                <a:latin typeface="Avenir Next" panose="020B0803020202020204" pitchFamily="34" charset="0"/>
                <a:ea typeface="Avenir Next" panose="020B0803020202020204" pitchFamily="34" charset="-122"/>
                <a:cs typeface="Avenir Next" panose="020B0803020202020204" pitchFamily="34" charset="-120"/>
              </a:rPr>
              <a:t>03</a:t>
            </a:r>
            <a:endParaRPr lang="en-US" sz="850" dirty="0"/>
          </a:p>
        </p:txBody>
      </p:sp>
      <p:sp>
        <p:nvSpPr>
          <p:cNvPr id="27" name="Text 25"/>
          <p:cNvSpPr/>
          <p:nvPr/>
        </p:nvSpPr>
        <p:spPr>
          <a:xfrm>
            <a:off x="8526780" y="2440813"/>
            <a:ext cx="1371600" cy="182880"/>
          </a:xfrm>
          <a:prstGeom prst="rect">
            <a:avLst/>
          </a:prstGeom>
          <a:noFill/>
        </p:spPr>
        <p:txBody>
          <a:bodyPr wrap="square" lIns="0" tIns="0" rIns="0" bIns="0" rtlCol="0" anchor="ctr"/>
          <a:lstStyle/>
          <a:p>
            <a:pPr marL="0" indent="0">
              <a:buNone/>
            </a:pPr>
            <a:r>
              <a:rPr lang="en-US" sz="2000" b="1" dirty="0">
                <a:solidFill>
                  <a:srgbClr val="5B4338"/>
                </a:solidFill>
                <a:latin typeface="Hiragino Sans GB" panose="020B0300000000000000" pitchFamily="34" charset="-122"/>
                <a:ea typeface="Hiragino Sans GB" panose="020B0300000000000000" pitchFamily="34" charset="-122"/>
                <a:cs typeface="Hiragino Sans GB" panose="020B0300000000000000" pitchFamily="34" charset="-120"/>
              </a:rPr>
              <a:t>社交分享</a:t>
            </a:r>
            <a:endParaRPr lang="en-US" sz="2000" b="1" dirty="0">
              <a:solidFill>
                <a:srgbClr val="5B4338"/>
              </a:solidFill>
              <a:latin typeface="Hiragino Sans GB" panose="020B0300000000000000" pitchFamily="34" charset="-122"/>
              <a:ea typeface="Hiragino Sans GB" panose="020B0300000000000000" pitchFamily="34" charset="-122"/>
              <a:cs typeface="Hiragino Sans GB" panose="020B0300000000000000" pitchFamily="34" charset="-120"/>
            </a:endParaRPr>
          </a:p>
        </p:txBody>
      </p:sp>
      <p:sp>
        <p:nvSpPr>
          <p:cNvPr id="28" name="Shape 26"/>
          <p:cNvSpPr/>
          <p:nvPr/>
        </p:nvSpPr>
        <p:spPr>
          <a:xfrm>
            <a:off x="7987030" y="2930652"/>
            <a:ext cx="1371600" cy="347472"/>
          </a:xfrm>
          <a:prstGeom prst="roundRect">
            <a:avLst>
              <a:gd name="adj" fmla="val 21053"/>
            </a:avLst>
          </a:prstGeom>
          <a:solidFill>
            <a:srgbClr val="FBF5EF"/>
          </a:solidFill>
          <a:ln w="12700">
            <a:solidFill>
              <a:srgbClr val="E9DBD0"/>
            </a:solidFill>
            <a:prstDash val="solid"/>
          </a:ln>
        </p:spPr>
      </p:sp>
      <p:sp>
        <p:nvSpPr>
          <p:cNvPr id="29" name="Text 27"/>
          <p:cNvSpPr/>
          <p:nvPr/>
        </p:nvSpPr>
        <p:spPr>
          <a:xfrm>
            <a:off x="7987030" y="2999232"/>
            <a:ext cx="1371600" cy="182880"/>
          </a:xfrm>
          <a:prstGeom prst="rect">
            <a:avLst/>
          </a:prstGeom>
          <a:noFill/>
        </p:spPr>
        <p:txBody>
          <a:bodyPr wrap="square" lIns="0" tIns="0" rIns="0" bIns="0" rtlCol="0" anchor="ctr"/>
          <a:lstStyle/>
          <a:p>
            <a:pPr marL="0" indent="0" algn="ctr">
              <a:buNone/>
            </a:pPr>
            <a:r>
              <a:rPr lang="en-US" sz="850" b="1" dirty="0">
                <a:solidFill>
                  <a:srgbClr val="866F63"/>
                </a:solidFill>
                <a:latin typeface="Hiragino Sans GB" panose="020B0300000000000000" pitchFamily="34" charset="-122"/>
                <a:ea typeface="Hiragino Sans GB" panose="020B0300000000000000" pitchFamily="34" charset="-122"/>
                <a:cs typeface="Hiragino Sans GB" panose="020B0300000000000000" pitchFamily="34" charset="-120"/>
              </a:rPr>
              <a:t>容易发布 / 不够完整</a:t>
            </a:r>
            <a:endParaRPr lang="en-US" sz="850" dirty="0"/>
          </a:p>
        </p:txBody>
      </p:sp>
      <p:sp>
        <p:nvSpPr>
          <p:cNvPr id="30" name="Text 28"/>
          <p:cNvSpPr/>
          <p:nvPr/>
        </p:nvSpPr>
        <p:spPr>
          <a:xfrm>
            <a:off x="7978140" y="3299460"/>
            <a:ext cx="2267712" cy="969264"/>
          </a:xfrm>
          <a:prstGeom prst="rect">
            <a:avLst/>
          </a:prstGeom>
          <a:noFill/>
        </p:spPr>
        <p:txBody>
          <a:bodyPr wrap="square" lIns="0" tIns="0" rIns="0" bIns="0" rtlCol="0" anchor="ctr"/>
          <a:lstStyle/>
          <a:p>
            <a:pPr marL="0" indent="0">
              <a:lnSpc>
                <a:spcPct val="130000"/>
              </a:lnSpc>
              <a:buNone/>
            </a:pPr>
            <a:r>
              <a:rPr lang="en-US" sz="1100" dirty="0">
                <a:solidFill>
                  <a:srgbClr val="866F63"/>
                </a:solidFill>
                <a:latin typeface="Hiragino Sans GB" panose="020B0300000000000000" pitchFamily="34" charset="-122"/>
                <a:ea typeface="Hiragino Sans GB" panose="020B0300000000000000" pitchFamily="34" charset="-122"/>
                <a:cs typeface="Hiragino Sans GB" panose="020B0300000000000000" pitchFamily="34" charset="-120"/>
              </a:rPr>
              <a:t>朋友圈或笔记更像即时表达，能分享片段，但不一定能长期保留地点、情绪和个人视角。</a:t>
            </a:r>
            <a:endParaRPr lang="en-US" sz="1100" dirty="0"/>
          </a:p>
        </p:txBody>
      </p:sp>
      <p:sp>
        <p:nvSpPr>
          <p:cNvPr id="31" name="Shape 29"/>
          <p:cNvSpPr/>
          <p:nvPr/>
        </p:nvSpPr>
        <p:spPr>
          <a:xfrm>
            <a:off x="868680" y="5138928"/>
            <a:ext cx="10424160" cy="868680"/>
          </a:xfrm>
          <a:prstGeom prst="roundRect">
            <a:avLst>
              <a:gd name="adj" fmla="val 12632"/>
            </a:avLst>
          </a:prstGeom>
          <a:solidFill>
            <a:srgbClr val="F0D7D2"/>
          </a:solidFill>
          <a:ln w="12700">
            <a:solidFill>
              <a:srgbClr val="E9DBD0"/>
            </a:solidFill>
            <a:prstDash val="solid"/>
          </a:ln>
        </p:spPr>
      </p:sp>
      <p:sp>
        <p:nvSpPr>
          <p:cNvPr id="32" name="Text 30"/>
          <p:cNvSpPr/>
          <p:nvPr/>
        </p:nvSpPr>
        <p:spPr>
          <a:xfrm>
            <a:off x="1143000" y="5422392"/>
            <a:ext cx="9875520" cy="201168"/>
          </a:xfrm>
          <a:prstGeom prst="rect">
            <a:avLst/>
          </a:prstGeom>
          <a:noFill/>
        </p:spPr>
        <p:txBody>
          <a:bodyPr wrap="square" lIns="0" tIns="0" rIns="0" bIns="0" rtlCol="0" anchor="ctr"/>
          <a:lstStyle/>
          <a:p>
            <a:pPr marL="0" indent="0" algn="ctr">
              <a:buNone/>
            </a:pPr>
            <a:r>
              <a:rPr lang="en-US" sz="1400" b="1" dirty="0">
                <a:solidFill>
                  <a:srgbClr val="88504C"/>
                </a:solidFill>
                <a:latin typeface="Hiragino Sans GB" panose="020B0300000000000000" pitchFamily="34" charset="-122"/>
                <a:ea typeface="Hiragino Sans GB" panose="020B0300000000000000" pitchFamily="34" charset="-122"/>
                <a:cs typeface="Hiragino Sans GB" panose="020B0300000000000000" pitchFamily="34" charset="-120"/>
              </a:rPr>
              <a:t>意义：把                                                 的碎片，整合成一条能长期保留、愿意回看的个人记忆链路。</a:t>
            </a:r>
            <a:endParaRPr lang="en-US" sz="1400" dirty="0"/>
          </a:p>
        </p:txBody>
      </p:sp>
      <p:sp>
        <p:nvSpPr>
          <p:cNvPr id="33" name="文本框 32"/>
          <p:cNvSpPr txBox="1"/>
          <p:nvPr/>
        </p:nvSpPr>
        <p:spPr>
          <a:xfrm>
            <a:off x="2562860" y="5318125"/>
            <a:ext cx="6096000" cy="398780"/>
          </a:xfrm>
          <a:prstGeom prst="rect">
            <a:avLst/>
          </a:prstGeom>
          <a:noFill/>
        </p:spPr>
        <p:txBody>
          <a:bodyPr wrap="square" rtlCol="0" anchor="t">
            <a:spAutoFit/>
          </a:bodyPr>
          <a:p>
            <a:r>
              <a:rPr lang="en-US" sz="2000" b="1" dirty="0">
                <a:solidFill>
                  <a:srgbClr val="88504C"/>
                </a:solidFill>
                <a:latin typeface="Hiragino Sans GB" panose="020B0300000000000000" pitchFamily="34" charset="-122"/>
                <a:ea typeface="Hiragino Sans GB" panose="020B0300000000000000" pitchFamily="34" charset="-122"/>
                <a:cs typeface="Hiragino Sans GB" panose="020B0300000000000000" pitchFamily="34" charset="-120"/>
                <a:sym typeface="+mn-ea"/>
              </a:rPr>
              <a:t>“拍过、走过、感受过</a:t>
            </a:r>
            <a:r>
              <a:rPr lang="en-US" b="1" dirty="0">
                <a:solidFill>
                  <a:srgbClr val="88504C"/>
                </a:solidFill>
                <a:latin typeface="Hiragino Sans GB" panose="020B0300000000000000" pitchFamily="34" charset="-122"/>
                <a:ea typeface="Hiragino Sans GB" panose="020B0300000000000000" pitchFamily="34" charset="-122"/>
                <a:cs typeface="Hiragino Sans GB" panose="020B0300000000000000" pitchFamily="34" charset="-120"/>
                <a:sym typeface="+mn-ea"/>
              </a:rPr>
              <a:t>”</a:t>
            </a:r>
            <a:endParaRPr lang="en-US" altLang="en-US" b="1" dirty="0">
              <a:solidFill>
                <a:srgbClr val="88504C"/>
              </a:solidFill>
              <a:latin typeface="Hiragino Sans GB" panose="020B0300000000000000" pitchFamily="34" charset="-122"/>
              <a:ea typeface="Hiragino Sans GB" panose="020B0300000000000000" pitchFamily="34" charset="-122"/>
              <a:cs typeface="Hiragino Sans GB" panose="020B0300000000000000" pitchFamily="34" charset="-120"/>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0E8"/>
          </a:solidFill>
          <a:ln w="12700">
            <a:solidFill>
              <a:srgbClr val="F7F0E8">
                <a:alpha val="0"/>
              </a:srgbClr>
            </a:solidFill>
            <a:prstDash val="solid"/>
          </a:ln>
        </p:spPr>
      </p:sp>
      <p:sp>
        <p:nvSpPr>
          <p:cNvPr id="3" name="Shape 1"/>
          <p:cNvSpPr/>
          <p:nvPr/>
        </p:nvSpPr>
        <p:spPr>
          <a:xfrm>
            <a:off x="9784080" y="-822960"/>
            <a:ext cx="3474720" cy="2468880"/>
          </a:xfrm>
          <a:prstGeom prst="ellipse">
            <a:avLst/>
          </a:prstGeom>
          <a:solidFill>
            <a:srgbClr val="F0D7D2">
              <a:alpha val="42000"/>
            </a:srgbClr>
          </a:solidFill>
          <a:ln w="12700">
            <a:solidFill>
              <a:srgbClr val="F7F0E8">
                <a:alpha val="0"/>
              </a:srgbClr>
            </a:solidFill>
            <a:prstDash val="solid"/>
          </a:ln>
        </p:spPr>
      </p:sp>
      <p:sp>
        <p:nvSpPr>
          <p:cNvPr id="4" name="Shape 2"/>
          <p:cNvSpPr/>
          <p:nvPr/>
        </p:nvSpPr>
        <p:spPr>
          <a:xfrm>
            <a:off x="-731520" y="5577840"/>
            <a:ext cx="2743200" cy="1920240"/>
          </a:xfrm>
          <a:prstGeom prst="ellipse">
            <a:avLst/>
          </a:prstGeom>
          <a:solidFill>
            <a:srgbClr val="E9C8C0">
              <a:alpha val="28000"/>
            </a:srgbClr>
          </a:solidFill>
          <a:ln w="12700">
            <a:solidFill>
              <a:srgbClr val="F7F0E8">
                <a:alpha val="0"/>
              </a:srgbClr>
            </a:solidFill>
            <a:prstDash val="solid"/>
          </a:ln>
        </p:spPr>
      </p:sp>
      <p:sp>
        <p:nvSpPr>
          <p:cNvPr id="5" name="Shape 3"/>
          <p:cNvSpPr/>
          <p:nvPr/>
        </p:nvSpPr>
        <p:spPr>
          <a:xfrm>
            <a:off x="713232" y="612648"/>
            <a:ext cx="310896" cy="0"/>
          </a:xfrm>
          <a:prstGeom prst="line">
            <a:avLst/>
          </a:prstGeom>
          <a:noFill/>
          <a:ln w="12700">
            <a:solidFill>
              <a:srgbClr val="C46467"/>
            </a:solidFill>
            <a:prstDash val="solid"/>
          </a:ln>
        </p:spPr>
      </p:sp>
      <p:sp>
        <p:nvSpPr>
          <p:cNvPr id="6" name="Text 4"/>
          <p:cNvSpPr/>
          <p:nvPr/>
        </p:nvSpPr>
        <p:spPr>
          <a:xfrm>
            <a:off x="1069848" y="429768"/>
            <a:ext cx="4206240" cy="201168"/>
          </a:xfrm>
          <a:prstGeom prst="rect">
            <a:avLst/>
          </a:prstGeom>
          <a:noFill/>
        </p:spPr>
        <p:txBody>
          <a:bodyPr wrap="square" rtlCol="0" anchor="ctr"/>
          <a:lstStyle/>
          <a:p>
            <a:pPr marL="0" indent="0">
              <a:buNone/>
            </a:pPr>
            <a:r>
              <a:rPr lang="en-US" sz="900" b="1" dirty="0">
                <a:solidFill>
                  <a:srgbClr val="866F63"/>
                </a:solidFill>
                <a:latin typeface="Avenir Next" panose="020B0803020202020204" pitchFamily="34" charset="0"/>
                <a:ea typeface="Avenir Next" panose="020B0803020202020204" pitchFamily="34" charset="-122"/>
                <a:cs typeface="Avenir Next" panose="020B0803020202020204" pitchFamily="34" charset="-120"/>
              </a:rPr>
              <a:t>PRODUCT</a:t>
            </a:r>
            <a:endParaRPr lang="en-US" sz="900" dirty="0"/>
          </a:p>
        </p:txBody>
      </p:sp>
      <p:sp>
        <p:nvSpPr>
          <p:cNvPr id="7" name="Text 5"/>
          <p:cNvSpPr/>
          <p:nvPr/>
        </p:nvSpPr>
        <p:spPr>
          <a:xfrm>
            <a:off x="11155680" y="384048"/>
            <a:ext cx="329184" cy="219456"/>
          </a:xfrm>
          <a:prstGeom prst="rect">
            <a:avLst/>
          </a:prstGeom>
          <a:noFill/>
        </p:spPr>
        <p:txBody>
          <a:bodyPr wrap="square" rtlCol="0" anchor="ctr"/>
          <a:lstStyle/>
          <a:p>
            <a:pPr marL="0" indent="0" algn="r">
              <a:buNone/>
            </a:pPr>
            <a:r>
              <a:rPr lang="en-US" sz="1000" b="1" dirty="0">
                <a:solidFill>
                  <a:srgbClr val="C46467"/>
                </a:solidFill>
                <a:latin typeface="Avenir Next" panose="020B0803020202020204" pitchFamily="34" charset="0"/>
                <a:ea typeface="Avenir Next" panose="020B0803020202020204" pitchFamily="34" charset="-122"/>
                <a:cs typeface="Avenir Next" panose="020B0803020202020204" pitchFamily="34" charset="-120"/>
              </a:rPr>
              <a:t>03</a:t>
            </a:r>
            <a:endParaRPr lang="en-US" sz="1000" dirty="0"/>
          </a:p>
        </p:txBody>
      </p:sp>
      <p:sp>
        <p:nvSpPr>
          <p:cNvPr id="8" name="Text 6"/>
          <p:cNvSpPr/>
          <p:nvPr/>
        </p:nvSpPr>
        <p:spPr>
          <a:xfrm>
            <a:off x="822960" y="868680"/>
            <a:ext cx="9509760" cy="621792"/>
          </a:xfrm>
          <a:prstGeom prst="rect">
            <a:avLst/>
          </a:prstGeom>
          <a:noFill/>
        </p:spPr>
        <p:txBody>
          <a:bodyPr wrap="square" lIns="0" tIns="0" rIns="0" bIns="0" rtlCol="0" anchor="ctr"/>
          <a:lstStyle/>
          <a:p>
            <a:pPr marL="0" indent="0">
              <a:buNone/>
            </a:pPr>
            <a:r>
              <a:rPr lang="en-US" sz="2200" b="1" dirty="0">
                <a:solidFill>
                  <a:srgbClr val="5B4338"/>
                </a:solidFill>
                <a:latin typeface="Songti SC" panose="02010800040101010101" pitchFamily="34" charset="-122"/>
                <a:ea typeface="Songti SC" panose="02010800040101010101" pitchFamily="34" charset="-122"/>
                <a:cs typeface="Songti SC" panose="02010800040101010101" pitchFamily="34" charset="-120"/>
              </a:rPr>
              <a:t>印迹把旅行照片加工成可被收藏、可被传播、可被再次编辑的内容单元</a:t>
            </a:r>
            <a:endParaRPr lang="en-US" sz="2200" dirty="0"/>
          </a:p>
        </p:txBody>
      </p:sp>
      <p:sp>
        <p:nvSpPr>
          <p:cNvPr id="9" name="Text 7"/>
          <p:cNvSpPr/>
          <p:nvPr/>
        </p:nvSpPr>
        <p:spPr>
          <a:xfrm>
            <a:off x="822960" y="1527048"/>
            <a:ext cx="7498080" cy="420624"/>
          </a:xfrm>
          <a:prstGeom prst="rect">
            <a:avLst/>
          </a:prstGeom>
          <a:noFill/>
        </p:spPr>
        <p:txBody>
          <a:bodyPr wrap="square" lIns="0" tIns="0" rIns="0" bIns="0" rtlCol="0" anchor="ctr"/>
          <a:lstStyle/>
          <a:p>
            <a:pPr marL="0" indent="0">
              <a:buNone/>
            </a:pPr>
            <a:r>
              <a:rPr lang="en-US" sz="1050" dirty="0">
                <a:solidFill>
                  <a:srgbClr val="866F63"/>
                </a:solidFill>
                <a:latin typeface="Hiragino Sans GB" panose="020B0300000000000000" pitchFamily="34" charset="-122"/>
                <a:ea typeface="Hiragino Sans GB" panose="020B0300000000000000" pitchFamily="34" charset="-122"/>
                <a:cs typeface="Hiragino Sans GB" panose="020B0300000000000000" pitchFamily="34" charset="-120"/>
              </a:rPr>
              <a:t>核心链路是：照片 → 印章 → 手帐页 → 足迹地图 → 共享内容。</a:t>
            </a:r>
            <a:endParaRPr lang="en-US" sz="1050" dirty="0"/>
          </a:p>
        </p:txBody>
      </p:sp>
      <p:sp>
        <p:nvSpPr>
          <p:cNvPr id="10" name="Shape 8"/>
          <p:cNvSpPr/>
          <p:nvPr/>
        </p:nvSpPr>
        <p:spPr>
          <a:xfrm>
            <a:off x="822960" y="1627505"/>
            <a:ext cx="10469880" cy="621665"/>
          </a:xfrm>
          <a:prstGeom prst="roundRect">
            <a:avLst>
              <a:gd name="adj" fmla="val 17647"/>
            </a:avLst>
          </a:prstGeom>
          <a:solidFill>
            <a:srgbClr val="FBF5EF"/>
          </a:solidFill>
          <a:ln w="12700">
            <a:solidFill>
              <a:srgbClr val="E9DBD0"/>
            </a:solidFill>
            <a:prstDash val="solid"/>
          </a:ln>
        </p:spPr>
      </p:sp>
      <p:sp>
        <p:nvSpPr>
          <p:cNvPr id="11" name="Text 9"/>
          <p:cNvSpPr/>
          <p:nvPr/>
        </p:nvSpPr>
        <p:spPr>
          <a:xfrm>
            <a:off x="1584960" y="1900174"/>
            <a:ext cx="457200" cy="91440"/>
          </a:xfrm>
          <a:prstGeom prst="rect">
            <a:avLst/>
          </a:prstGeom>
          <a:noFill/>
        </p:spPr>
        <p:txBody>
          <a:bodyPr wrap="square" lIns="0" tIns="0" rIns="0" bIns="0" rtlCol="0" anchor="ctr"/>
          <a:lstStyle/>
          <a:p>
            <a:pPr marL="0" indent="0">
              <a:buNone/>
            </a:pPr>
            <a:r>
              <a:rPr lang="en-US" sz="1600" b="1" dirty="0">
                <a:solidFill>
                  <a:srgbClr val="88504C"/>
                </a:solidFill>
                <a:latin typeface="Hiragino Sans GB" panose="020B0300000000000000" pitchFamily="34" charset="-122"/>
                <a:ea typeface="Hiragino Sans GB" panose="020B0300000000000000" pitchFamily="34" charset="-122"/>
                <a:cs typeface="Hiragino Sans GB" panose="020B0300000000000000" pitchFamily="34" charset="-120"/>
              </a:rPr>
              <a:t>照片</a:t>
            </a:r>
            <a:endParaRPr lang="en-US" sz="1600" b="1" dirty="0">
              <a:solidFill>
                <a:srgbClr val="88504C"/>
              </a:solidFill>
              <a:latin typeface="Hiragino Sans GB" panose="020B0300000000000000" pitchFamily="34" charset="-122"/>
              <a:ea typeface="Hiragino Sans GB" panose="020B0300000000000000" pitchFamily="34" charset="-122"/>
              <a:cs typeface="Hiragino Sans GB" panose="020B0300000000000000" pitchFamily="34" charset="-120"/>
            </a:endParaRPr>
          </a:p>
        </p:txBody>
      </p:sp>
      <p:sp>
        <p:nvSpPr>
          <p:cNvPr id="12" name="Text 10"/>
          <p:cNvSpPr/>
          <p:nvPr/>
        </p:nvSpPr>
        <p:spPr>
          <a:xfrm>
            <a:off x="2439670" y="1817878"/>
            <a:ext cx="274320" cy="182880"/>
          </a:xfrm>
          <a:prstGeom prst="rect">
            <a:avLst/>
          </a:prstGeom>
          <a:noFill/>
        </p:spPr>
        <p:txBody>
          <a:bodyPr wrap="square" lIns="0" tIns="0" rIns="0" bIns="0" rtlCol="0" anchor="ctr"/>
          <a:lstStyle/>
          <a:p>
            <a:pPr marL="0" indent="0">
              <a:buNone/>
            </a:pPr>
            <a:r>
              <a:rPr lang="en-US" sz="1800" b="1" dirty="0">
                <a:solidFill>
                  <a:srgbClr val="866F63"/>
                </a:solidFill>
                <a:latin typeface="Avenir Next" panose="020B0803020202020204" pitchFamily="34" charset="0"/>
                <a:ea typeface="Avenir Next" panose="020B0803020202020204" pitchFamily="34" charset="-122"/>
                <a:cs typeface="Avenir Next" panose="020B0803020202020204" pitchFamily="34" charset="-120"/>
              </a:rPr>
              <a:t>→</a:t>
            </a:r>
            <a:endParaRPr lang="en-US" sz="1800" dirty="0"/>
          </a:p>
        </p:txBody>
      </p:sp>
      <p:sp>
        <p:nvSpPr>
          <p:cNvPr id="13" name="Text 11"/>
          <p:cNvSpPr/>
          <p:nvPr/>
        </p:nvSpPr>
        <p:spPr>
          <a:xfrm>
            <a:off x="3171698" y="1900174"/>
            <a:ext cx="1143000" cy="91440"/>
          </a:xfrm>
          <a:prstGeom prst="rect">
            <a:avLst/>
          </a:prstGeom>
          <a:noFill/>
        </p:spPr>
        <p:txBody>
          <a:bodyPr wrap="square" lIns="0" tIns="0" rIns="0" bIns="0" rtlCol="0" anchor="ctr"/>
          <a:lstStyle/>
          <a:p>
            <a:pPr marL="0" indent="0">
              <a:buNone/>
            </a:pPr>
            <a:r>
              <a:rPr lang="en-US" sz="1600" b="1" dirty="0">
                <a:solidFill>
                  <a:srgbClr val="88504C"/>
                </a:solidFill>
                <a:latin typeface="Hiragino Sans GB" panose="020B0300000000000000" pitchFamily="34" charset="-122"/>
                <a:ea typeface="Hiragino Sans GB" panose="020B0300000000000000" pitchFamily="34" charset="-122"/>
                <a:cs typeface="Hiragino Sans GB" panose="020B0300000000000000" pitchFamily="34" charset="-120"/>
              </a:rPr>
              <a:t>风格化印章</a:t>
            </a:r>
            <a:endParaRPr lang="en-US" sz="1600" dirty="0"/>
          </a:p>
        </p:txBody>
      </p:sp>
      <p:sp>
        <p:nvSpPr>
          <p:cNvPr id="14" name="Text 12"/>
          <p:cNvSpPr/>
          <p:nvPr/>
        </p:nvSpPr>
        <p:spPr>
          <a:xfrm>
            <a:off x="4685792" y="1817878"/>
            <a:ext cx="274320" cy="182880"/>
          </a:xfrm>
          <a:prstGeom prst="rect">
            <a:avLst/>
          </a:prstGeom>
          <a:noFill/>
        </p:spPr>
        <p:txBody>
          <a:bodyPr wrap="square" lIns="0" tIns="0" rIns="0" bIns="0" rtlCol="0" anchor="ctr"/>
          <a:lstStyle/>
          <a:p>
            <a:pPr marL="0" indent="0">
              <a:buNone/>
            </a:pPr>
            <a:r>
              <a:rPr lang="en-US" sz="1800" b="1" dirty="0">
                <a:solidFill>
                  <a:srgbClr val="866F63"/>
                </a:solidFill>
                <a:latin typeface="Avenir Next" panose="020B0803020202020204" pitchFamily="34" charset="0"/>
                <a:ea typeface="Avenir Next" panose="020B0803020202020204" pitchFamily="34" charset="-122"/>
                <a:cs typeface="Avenir Next" panose="020B0803020202020204" pitchFamily="34" charset="-120"/>
              </a:rPr>
              <a:t>→</a:t>
            </a:r>
            <a:endParaRPr lang="en-US" sz="1800" dirty="0"/>
          </a:p>
        </p:txBody>
      </p:sp>
      <p:sp>
        <p:nvSpPr>
          <p:cNvPr id="15" name="Text 13"/>
          <p:cNvSpPr/>
          <p:nvPr/>
        </p:nvSpPr>
        <p:spPr>
          <a:xfrm>
            <a:off x="5435092" y="1900174"/>
            <a:ext cx="1097280" cy="91440"/>
          </a:xfrm>
          <a:prstGeom prst="rect">
            <a:avLst/>
          </a:prstGeom>
          <a:noFill/>
        </p:spPr>
        <p:txBody>
          <a:bodyPr wrap="square" lIns="0" tIns="0" rIns="0" bIns="0" rtlCol="0" anchor="ctr"/>
          <a:lstStyle/>
          <a:p>
            <a:pPr marL="0" indent="0">
              <a:buNone/>
            </a:pPr>
            <a:r>
              <a:rPr lang="en-US" sz="1600" b="1" dirty="0">
                <a:solidFill>
                  <a:srgbClr val="88504C"/>
                </a:solidFill>
                <a:latin typeface="Hiragino Sans GB" panose="020B0300000000000000" pitchFamily="34" charset="-122"/>
                <a:ea typeface="Hiragino Sans GB" panose="020B0300000000000000" pitchFamily="34" charset="-122"/>
                <a:cs typeface="Hiragino Sans GB" panose="020B0300000000000000" pitchFamily="34" charset="-120"/>
              </a:rPr>
              <a:t>数字手帐页</a:t>
            </a:r>
            <a:endParaRPr lang="en-US" sz="1600" dirty="0"/>
          </a:p>
        </p:txBody>
      </p:sp>
      <p:sp>
        <p:nvSpPr>
          <p:cNvPr id="16" name="Text 14"/>
          <p:cNvSpPr/>
          <p:nvPr/>
        </p:nvSpPr>
        <p:spPr>
          <a:xfrm>
            <a:off x="6949440" y="1817878"/>
            <a:ext cx="274320" cy="182880"/>
          </a:xfrm>
          <a:prstGeom prst="rect">
            <a:avLst/>
          </a:prstGeom>
          <a:noFill/>
        </p:spPr>
        <p:txBody>
          <a:bodyPr wrap="square" lIns="0" tIns="0" rIns="0" bIns="0" rtlCol="0" anchor="ctr"/>
          <a:lstStyle/>
          <a:p>
            <a:pPr marL="0" indent="0">
              <a:buNone/>
            </a:pPr>
            <a:r>
              <a:rPr lang="en-US" sz="1800" b="1" dirty="0">
                <a:solidFill>
                  <a:srgbClr val="866F63"/>
                </a:solidFill>
                <a:latin typeface="Avenir Next" panose="020B0803020202020204" pitchFamily="34" charset="0"/>
                <a:ea typeface="Avenir Next" panose="020B0803020202020204" pitchFamily="34" charset="-122"/>
                <a:cs typeface="Avenir Next" panose="020B0803020202020204" pitchFamily="34" charset="-120"/>
              </a:rPr>
              <a:t>→</a:t>
            </a:r>
            <a:endParaRPr lang="en-US" sz="1800" dirty="0"/>
          </a:p>
        </p:txBody>
      </p:sp>
      <p:sp>
        <p:nvSpPr>
          <p:cNvPr id="17" name="Text 15"/>
          <p:cNvSpPr/>
          <p:nvPr/>
        </p:nvSpPr>
        <p:spPr>
          <a:xfrm>
            <a:off x="7725664" y="1900174"/>
            <a:ext cx="868680" cy="91440"/>
          </a:xfrm>
          <a:prstGeom prst="rect">
            <a:avLst/>
          </a:prstGeom>
          <a:noFill/>
        </p:spPr>
        <p:txBody>
          <a:bodyPr wrap="square" lIns="0" tIns="0" rIns="0" bIns="0" rtlCol="0" anchor="ctr"/>
          <a:lstStyle/>
          <a:p>
            <a:pPr marL="0" indent="0">
              <a:buNone/>
            </a:pPr>
            <a:r>
              <a:rPr lang="en-US" sz="1600" b="1" dirty="0">
                <a:solidFill>
                  <a:srgbClr val="88504C"/>
                </a:solidFill>
                <a:latin typeface="Hiragino Sans GB" panose="020B0300000000000000" pitchFamily="34" charset="-122"/>
                <a:ea typeface="Hiragino Sans GB" panose="020B0300000000000000" pitchFamily="34" charset="-122"/>
                <a:cs typeface="Hiragino Sans GB" panose="020B0300000000000000" pitchFamily="34" charset="-120"/>
              </a:rPr>
              <a:t>足迹地图</a:t>
            </a:r>
            <a:endParaRPr lang="en-US" sz="1600" dirty="0"/>
          </a:p>
        </p:txBody>
      </p:sp>
      <p:sp>
        <p:nvSpPr>
          <p:cNvPr id="18" name="Text 16"/>
          <p:cNvSpPr/>
          <p:nvPr/>
        </p:nvSpPr>
        <p:spPr>
          <a:xfrm>
            <a:off x="9143492" y="1817878"/>
            <a:ext cx="274320" cy="182880"/>
          </a:xfrm>
          <a:prstGeom prst="rect">
            <a:avLst/>
          </a:prstGeom>
          <a:noFill/>
        </p:spPr>
        <p:txBody>
          <a:bodyPr wrap="square" lIns="0" tIns="0" rIns="0" bIns="0" rtlCol="0" anchor="ctr"/>
          <a:lstStyle/>
          <a:p>
            <a:pPr marL="0" indent="0">
              <a:buNone/>
            </a:pPr>
            <a:r>
              <a:rPr lang="en-US" sz="1800" b="1" dirty="0">
                <a:solidFill>
                  <a:srgbClr val="866F63"/>
                </a:solidFill>
                <a:latin typeface="Avenir Next" panose="020B0803020202020204" pitchFamily="34" charset="0"/>
                <a:ea typeface="Avenir Next" panose="020B0803020202020204" pitchFamily="34" charset="-122"/>
                <a:cs typeface="Avenir Next" panose="020B0803020202020204" pitchFamily="34" charset="-120"/>
              </a:rPr>
              <a:t>→</a:t>
            </a:r>
            <a:endParaRPr lang="en-US" sz="1800" dirty="0"/>
          </a:p>
        </p:txBody>
      </p:sp>
      <p:sp>
        <p:nvSpPr>
          <p:cNvPr id="19" name="Text 17"/>
          <p:cNvSpPr/>
          <p:nvPr/>
        </p:nvSpPr>
        <p:spPr>
          <a:xfrm>
            <a:off x="9866376" y="1900174"/>
            <a:ext cx="868680" cy="91440"/>
          </a:xfrm>
          <a:prstGeom prst="rect">
            <a:avLst/>
          </a:prstGeom>
          <a:noFill/>
        </p:spPr>
        <p:txBody>
          <a:bodyPr wrap="square" lIns="0" tIns="0" rIns="0" bIns="0" rtlCol="0" anchor="ctr"/>
          <a:lstStyle/>
          <a:p>
            <a:pPr marL="0" indent="0">
              <a:buNone/>
            </a:pPr>
            <a:r>
              <a:rPr lang="en-US" sz="1600" b="1" dirty="0">
                <a:solidFill>
                  <a:srgbClr val="88504C"/>
                </a:solidFill>
                <a:latin typeface="Hiragino Sans GB" panose="020B0300000000000000" pitchFamily="34" charset="-122"/>
                <a:ea typeface="Hiragino Sans GB" panose="020B0300000000000000" pitchFamily="34" charset="-122"/>
                <a:cs typeface="Hiragino Sans GB" panose="020B0300000000000000" pitchFamily="34" charset="-120"/>
              </a:rPr>
              <a:t>共享内容</a:t>
            </a:r>
            <a:endParaRPr lang="en-US" sz="1600" dirty="0"/>
          </a:p>
        </p:txBody>
      </p:sp>
      <p:sp>
        <p:nvSpPr>
          <p:cNvPr id="20" name="Shape 18"/>
          <p:cNvSpPr/>
          <p:nvPr/>
        </p:nvSpPr>
        <p:spPr>
          <a:xfrm>
            <a:off x="539750" y="2542032"/>
            <a:ext cx="2121408" cy="3730752"/>
          </a:xfrm>
          <a:prstGeom prst="roundRect">
            <a:avLst>
              <a:gd name="adj" fmla="val 5172"/>
            </a:avLst>
          </a:prstGeom>
          <a:solidFill>
            <a:srgbClr val="FFFDF9"/>
          </a:solidFill>
          <a:ln w="12700">
            <a:solidFill>
              <a:srgbClr val="E9DBD0"/>
            </a:solidFill>
            <a:prstDash val="solid"/>
          </a:ln>
        </p:spPr>
      </p:sp>
      <p:pic>
        <p:nvPicPr>
          <p:cNvPr id="21" name="Image 0" descr="/Users/ronggang/Downloads/微信图片_20260328154218_1144_149.jpg微信图片_20260328154218_1144_149"/>
          <p:cNvPicPr>
            <a:picLocks noChangeAspect="1"/>
          </p:cNvPicPr>
          <p:nvPr/>
        </p:nvPicPr>
        <p:blipFill>
          <a:blip r:embed="rId1"/>
          <a:srcRect l="482" t="7302" r="-482" b="42029"/>
          <a:stretch>
            <a:fillRect/>
          </a:stretch>
        </p:blipFill>
        <p:spPr>
          <a:xfrm>
            <a:off x="612902" y="2615184"/>
            <a:ext cx="1975104" cy="3236976"/>
          </a:xfrm>
          <a:prstGeom prst="rect">
            <a:avLst/>
          </a:prstGeom>
        </p:spPr>
      </p:pic>
      <p:sp>
        <p:nvSpPr>
          <p:cNvPr id="22" name="Text 19"/>
          <p:cNvSpPr/>
          <p:nvPr/>
        </p:nvSpPr>
        <p:spPr>
          <a:xfrm>
            <a:off x="539750" y="5934456"/>
            <a:ext cx="2121408" cy="146304"/>
          </a:xfrm>
          <a:prstGeom prst="rect">
            <a:avLst/>
          </a:prstGeom>
          <a:noFill/>
        </p:spPr>
        <p:txBody>
          <a:bodyPr wrap="square" lIns="0" tIns="0" rIns="0" bIns="0" rtlCol="0" anchor="ctr"/>
          <a:lstStyle/>
          <a:p>
            <a:pPr marL="0" indent="0" algn="ctr">
              <a:buNone/>
            </a:pPr>
            <a:r>
              <a:rPr lang="en-US" sz="900" b="1" dirty="0">
                <a:solidFill>
                  <a:srgbClr val="866F63"/>
                </a:solidFill>
                <a:latin typeface="Hiragino Sans GB" panose="020B0300000000000000" pitchFamily="34" charset="-122"/>
                <a:ea typeface="Hiragino Sans GB" panose="020B0300000000000000" pitchFamily="34" charset="-122"/>
                <a:cs typeface="Hiragino Sans GB" panose="020B0300000000000000" pitchFamily="34" charset="-120"/>
              </a:rPr>
              <a:t>01 上传照片</a:t>
            </a:r>
            <a:endParaRPr lang="en-US" sz="900" dirty="0"/>
          </a:p>
        </p:txBody>
      </p:sp>
      <p:sp>
        <p:nvSpPr>
          <p:cNvPr id="23" name="Shape 20"/>
          <p:cNvSpPr/>
          <p:nvPr/>
        </p:nvSpPr>
        <p:spPr>
          <a:xfrm>
            <a:off x="3009900" y="2542032"/>
            <a:ext cx="2121408" cy="3730752"/>
          </a:xfrm>
          <a:prstGeom prst="roundRect">
            <a:avLst>
              <a:gd name="adj" fmla="val 5172"/>
            </a:avLst>
          </a:prstGeom>
          <a:solidFill>
            <a:srgbClr val="FFFDF9"/>
          </a:solidFill>
          <a:ln w="12700">
            <a:solidFill>
              <a:srgbClr val="E9DBD0"/>
            </a:solidFill>
            <a:prstDash val="solid"/>
          </a:ln>
        </p:spPr>
      </p:sp>
      <p:pic>
        <p:nvPicPr>
          <p:cNvPr id="24" name="Image 1" descr="/Users/ronggang/Downloads/微信图片_20260328155314_1150_149.jpg微信图片_20260328155314_1150_149"/>
          <p:cNvPicPr>
            <a:picLocks noChangeAspect="1"/>
          </p:cNvPicPr>
          <p:nvPr/>
        </p:nvPicPr>
        <p:blipFill>
          <a:blip r:embed="rId2"/>
          <a:srcRect t="24462" b="31878"/>
          <a:stretch>
            <a:fillRect/>
          </a:stretch>
        </p:blipFill>
        <p:spPr>
          <a:xfrm>
            <a:off x="3083052" y="2615184"/>
            <a:ext cx="1975104" cy="3236976"/>
          </a:xfrm>
          <a:prstGeom prst="rect">
            <a:avLst/>
          </a:prstGeom>
        </p:spPr>
      </p:pic>
      <p:sp>
        <p:nvSpPr>
          <p:cNvPr id="25" name="Text 21"/>
          <p:cNvSpPr/>
          <p:nvPr/>
        </p:nvSpPr>
        <p:spPr>
          <a:xfrm>
            <a:off x="3009900" y="5934456"/>
            <a:ext cx="2121408" cy="146304"/>
          </a:xfrm>
          <a:prstGeom prst="rect">
            <a:avLst/>
          </a:prstGeom>
          <a:noFill/>
        </p:spPr>
        <p:txBody>
          <a:bodyPr wrap="square" lIns="0" tIns="0" rIns="0" bIns="0" rtlCol="0" anchor="ctr"/>
          <a:lstStyle/>
          <a:p>
            <a:pPr marL="0" indent="0" algn="ctr">
              <a:buNone/>
            </a:pPr>
            <a:r>
              <a:rPr lang="en-US" sz="900" b="1" dirty="0">
                <a:solidFill>
                  <a:srgbClr val="866F63"/>
                </a:solidFill>
                <a:latin typeface="Hiragino Sans GB" panose="020B0300000000000000" pitchFamily="34" charset="-122"/>
                <a:ea typeface="Hiragino Sans GB" panose="020B0300000000000000" pitchFamily="34" charset="-122"/>
                <a:cs typeface="Hiragino Sans GB" panose="020B0300000000000000" pitchFamily="34" charset="-120"/>
              </a:rPr>
              <a:t>02 生成印章</a:t>
            </a:r>
            <a:endParaRPr lang="en-US" sz="900" dirty="0"/>
          </a:p>
        </p:txBody>
      </p:sp>
      <p:sp>
        <p:nvSpPr>
          <p:cNvPr id="26" name="Shape 22"/>
          <p:cNvSpPr/>
          <p:nvPr/>
        </p:nvSpPr>
        <p:spPr>
          <a:xfrm>
            <a:off x="5471160" y="2542032"/>
            <a:ext cx="2121408" cy="3730752"/>
          </a:xfrm>
          <a:prstGeom prst="roundRect">
            <a:avLst>
              <a:gd name="adj" fmla="val 5172"/>
            </a:avLst>
          </a:prstGeom>
          <a:solidFill>
            <a:srgbClr val="FFFDF9"/>
          </a:solidFill>
          <a:ln w="12700">
            <a:solidFill>
              <a:srgbClr val="E9DBD0"/>
            </a:solidFill>
            <a:prstDash val="solid"/>
          </a:ln>
        </p:spPr>
      </p:sp>
      <p:pic>
        <p:nvPicPr>
          <p:cNvPr id="27" name="Image 2" descr="/Users/ronggang/Downloads/微信图片_20260328154221_1147_149.jpg微信图片_20260328154221_1147_149"/>
          <p:cNvPicPr>
            <a:picLocks noChangeAspect="1"/>
          </p:cNvPicPr>
          <p:nvPr/>
        </p:nvPicPr>
        <p:blipFill>
          <a:blip r:embed="rId3"/>
          <a:srcRect l="-450" t="5799" r="450" b="48419"/>
          <a:stretch>
            <a:fillRect/>
          </a:stretch>
        </p:blipFill>
        <p:spPr>
          <a:xfrm>
            <a:off x="5544312" y="2615184"/>
            <a:ext cx="1975104" cy="3236976"/>
          </a:xfrm>
          <a:prstGeom prst="rect">
            <a:avLst/>
          </a:prstGeom>
        </p:spPr>
      </p:pic>
      <p:sp>
        <p:nvSpPr>
          <p:cNvPr id="28" name="Text 23"/>
          <p:cNvSpPr/>
          <p:nvPr/>
        </p:nvSpPr>
        <p:spPr>
          <a:xfrm>
            <a:off x="5471160" y="5934456"/>
            <a:ext cx="2121408" cy="146304"/>
          </a:xfrm>
          <a:prstGeom prst="rect">
            <a:avLst/>
          </a:prstGeom>
          <a:noFill/>
        </p:spPr>
        <p:txBody>
          <a:bodyPr wrap="square" lIns="0" tIns="0" rIns="0" bIns="0" rtlCol="0" anchor="ctr"/>
          <a:lstStyle/>
          <a:p>
            <a:pPr marL="0" indent="0" algn="ctr">
              <a:buNone/>
            </a:pPr>
            <a:r>
              <a:rPr lang="en-US" sz="900" b="1" dirty="0">
                <a:solidFill>
                  <a:srgbClr val="866F63"/>
                </a:solidFill>
                <a:latin typeface="Hiragino Sans GB" panose="020B0300000000000000" pitchFamily="34" charset="-122"/>
                <a:ea typeface="Hiragino Sans GB" panose="020B0300000000000000" pitchFamily="34" charset="-122"/>
                <a:cs typeface="Hiragino Sans GB" panose="020B0300000000000000" pitchFamily="34" charset="-120"/>
              </a:rPr>
              <a:t>03 编辑成页</a:t>
            </a:r>
            <a:endParaRPr lang="en-US" sz="900" dirty="0"/>
          </a:p>
        </p:txBody>
      </p:sp>
      <p:sp>
        <p:nvSpPr>
          <p:cNvPr id="29" name="Shape 24"/>
          <p:cNvSpPr/>
          <p:nvPr/>
        </p:nvSpPr>
        <p:spPr>
          <a:xfrm>
            <a:off x="7941310" y="2542032"/>
            <a:ext cx="2121408" cy="3730752"/>
          </a:xfrm>
          <a:prstGeom prst="roundRect">
            <a:avLst>
              <a:gd name="adj" fmla="val 5172"/>
            </a:avLst>
          </a:prstGeom>
          <a:solidFill>
            <a:srgbClr val="FFFDF9"/>
          </a:solidFill>
          <a:ln w="12700">
            <a:solidFill>
              <a:srgbClr val="E9C8C0"/>
            </a:solidFill>
            <a:prstDash val="solid"/>
          </a:ln>
        </p:spPr>
      </p:sp>
      <p:pic>
        <p:nvPicPr>
          <p:cNvPr id="30" name="Image 3" descr="/Users/ronggang/Downloads/微信图片_20260328154220_1146_149.jpg微信图片_20260328154220_1146_149"/>
          <p:cNvPicPr>
            <a:picLocks noChangeAspect="1"/>
          </p:cNvPicPr>
          <p:nvPr/>
        </p:nvPicPr>
        <p:blipFill>
          <a:blip r:embed="rId4"/>
          <a:srcRect t="11937" b="14085"/>
          <a:stretch>
            <a:fillRect/>
          </a:stretch>
        </p:blipFill>
        <p:spPr>
          <a:xfrm>
            <a:off x="8014462" y="2615184"/>
            <a:ext cx="1975104" cy="3236976"/>
          </a:xfrm>
          <a:prstGeom prst="rect">
            <a:avLst/>
          </a:prstGeom>
        </p:spPr>
      </p:pic>
      <p:sp>
        <p:nvSpPr>
          <p:cNvPr id="31" name="Text 25"/>
          <p:cNvSpPr/>
          <p:nvPr/>
        </p:nvSpPr>
        <p:spPr>
          <a:xfrm>
            <a:off x="7941310" y="5934456"/>
            <a:ext cx="2121408" cy="146304"/>
          </a:xfrm>
          <a:prstGeom prst="rect">
            <a:avLst/>
          </a:prstGeom>
          <a:noFill/>
        </p:spPr>
        <p:txBody>
          <a:bodyPr wrap="square" lIns="0" tIns="0" rIns="0" bIns="0" rtlCol="0" anchor="ctr"/>
          <a:lstStyle/>
          <a:p>
            <a:pPr marL="0" indent="0" algn="ctr">
              <a:buNone/>
            </a:pPr>
            <a:r>
              <a:rPr lang="en-US" sz="900" b="1" dirty="0">
                <a:solidFill>
                  <a:srgbClr val="866F63"/>
                </a:solidFill>
                <a:latin typeface="Hiragino Sans GB" panose="020B0300000000000000" pitchFamily="34" charset="-122"/>
                <a:ea typeface="Hiragino Sans GB" panose="020B0300000000000000" pitchFamily="34" charset="-122"/>
                <a:cs typeface="Hiragino Sans GB" panose="020B0300000000000000" pitchFamily="34" charset="-120"/>
              </a:rPr>
              <a:t>04 落点地图</a:t>
            </a:r>
            <a:endParaRPr lang="en-US" sz="900" dirty="0"/>
          </a:p>
        </p:txBody>
      </p:sp>
      <p:pic>
        <p:nvPicPr>
          <p:cNvPr id="34" name="图片 33" descr="小红书"/>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981690" y="2710815"/>
            <a:ext cx="520065" cy="520065"/>
          </a:xfrm>
          <a:prstGeom prst="rect">
            <a:avLst/>
          </a:prstGeom>
        </p:spPr>
      </p:pic>
      <p:pic>
        <p:nvPicPr>
          <p:cNvPr id="35" name="图片 34" descr="微信"/>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940415" y="4965065"/>
            <a:ext cx="621030" cy="621030"/>
          </a:xfrm>
          <a:prstGeom prst="rect">
            <a:avLst/>
          </a:prstGeom>
        </p:spPr>
      </p:pic>
      <p:pic>
        <p:nvPicPr>
          <p:cNvPr id="36" name="图片 35" descr="QQ"/>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280650" y="4197350"/>
            <a:ext cx="622300" cy="622300"/>
          </a:xfrm>
          <a:prstGeom prst="rect">
            <a:avLst/>
          </a:prstGeom>
        </p:spPr>
      </p:pic>
      <p:pic>
        <p:nvPicPr>
          <p:cNvPr id="37" name="图片 36" descr="抖音"/>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1049000" y="3916680"/>
            <a:ext cx="441960" cy="441960"/>
          </a:xfrm>
          <a:prstGeom prst="rect">
            <a:avLst/>
          </a:prstGeom>
        </p:spPr>
      </p:pic>
      <p:pic>
        <p:nvPicPr>
          <p:cNvPr id="38" name="图片 37" descr="朋友圈"/>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0278110" y="3367405"/>
            <a:ext cx="469900" cy="4699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6985"/>
            <a:ext cx="12191695" cy="6858000"/>
          </a:xfrm>
          <a:prstGeom prst="rect">
            <a:avLst/>
          </a:prstGeom>
          <a:solidFill>
            <a:srgbClr val="F7F0E8"/>
          </a:solidFill>
          <a:ln w="12700">
            <a:solidFill>
              <a:srgbClr val="F7F0E8">
                <a:alpha val="0"/>
              </a:srgbClr>
            </a:solidFill>
            <a:prstDash val="solid"/>
          </a:ln>
        </p:spPr>
      </p:sp>
      <p:sp>
        <p:nvSpPr>
          <p:cNvPr id="3" name="Shape 1"/>
          <p:cNvSpPr/>
          <p:nvPr/>
        </p:nvSpPr>
        <p:spPr>
          <a:xfrm>
            <a:off x="9784080" y="-822960"/>
            <a:ext cx="3474720" cy="2468880"/>
          </a:xfrm>
          <a:prstGeom prst="ellipse">
            <a:avLst/>
          </a:prstGeom>
          <a:solidFill>
            <a:srgbClr val="F0D7D2">
              <a:alpha val="42000"/>
            </a:srgbClr>
          </a:solidFill>
          <a:ln w="12700">
            <a:solidFill>
              <a:srgbClr val="F7F0E8">
                <a:alpha val="0"/>
              </a:srgbClr>
            </a:solidFill>
            <a:prstDash val="solid"/>
          </a:ln>
        </p:spPr>
      </p:sp>
      <p:sp>
        <p:nvSpPr>
          <p:cNvPr id="4" name="Shape 2"/>
          <p:cNvSpPr/>
          <p:nvPr/>
        </p:nvSpPr>
        <p:spPr>
          <a:xfrm>
            <a:off x="-731520" y="5577840"/>
            <a:ext cx="2743200" cy="1920240"/>
          </a:xfrm>
          <a:prstGeom prst="ellipse">
            <a:avLst/>
          </a:prstGeom>
          <a:solidFill>
            <a:srgbClr val="E9C8C0">
              <a:alpha val="28000"/>
            </a:srgbClr>
          </a:solidFill>
          <a:ln w="12700">
            <a:solidFill>
              <a:srgbClr val="F7F0E8">
                <a:alpha val="0"/>
              </a:srgbClr>
            </a:solidFill>
            <a:prstDash val="solid"/>
          </a:ln>
        </p:spPr>
      </p:sp>
      <p:sp>
        <p:nvSpPr>
          <p:cNvPr id="5" name="Shape 3"/>
          <p:cNvSpPr/>
          <p:nvPr/>
        </p:nvSpPr>
        <p:spPr>
          <a:xfrm>
            <a:off x="713232" y="612648"/>
            <a:ext cx="310896" cy="0"/>
          </a:xfrm>
          <a:prstGeom prst="line">
            <a:avLst/>
          </a:prstGeom>
          <a:noFill/>
          <a:ln w="12700">
            <a:solidFill>
              <a:srgbClr val="C46467"/>
            </a:solidFill>
            <a:prstDash val="solid"/>
          </a:ln>
        </p:spPr>
      </p:sp>
      <p:sp>
        <p:nvSpPr>
          <p:cNvPr id="6" name="Text 4"/>
          <p:cNvSpPr/>
          <p:nvPr/>
        </p:nvSpPr>
        <p:spPr>
          <a:xfrm>
            <a:off x="1069848" y="429768"/>
            <a:ext cx="4206240" cy="201168"/>
          </a:xfrm>
          <a:prstGeom prst="rect">
            <a:avLst/>
          </a:prstGeom>
          <a:noFill/>
        </p:spPr>
        <p:txBody>
          <a:bodyPr wrap="square" rtlCol="0" anchor="ctr"/>
          <a:lstStyle/>
          <a:p>
            <a:pPr marL="0" indent="0">
              <a:buNone/>
            </a:pPr>
            <a:r>
              <a:rPr lang="en-US" sz="900" b="1" dirty="0">
                <a:solidFill>
                  <a:srgbClr val="866F63"/>
                </a:solidFill>
                <a:latin typeface="Avenir Next" panose="020B0803020202020204" pitchFamily="34" charset="0"/>
                <a:ea typeface="Avenir Next" panose="020B0803020202020204" pitchFamily="34" charset="-122"/>
                <a:cs typeface="Avenir Next" panose="020B0803020202020204" pitchFamily="34" charset="-120"/>
              </a:rPr>
              <a:t>EXECUTION / TECH READINESS</a:t>
            </a:r>
            <a:endParaRPr lang="en-US" sz="900" dirty="0"/>
          </a:p>
        </p:txBody>
      </p:sp>
      <p:sp>
        <p:nvSpPr>
          <p:cNvPr id="7" name="Text 5"/>
          <p:cNvSpPr/>
          <p:nvPr/>
        </p:nvSpPr>
        <p:spPr>
          <a:xfrm>
            <a:off x="11155680" y="384048"/>
            <a:ext cx="329184" cy="219456"/>
          </a:xfrm>
          <a:prstGeom prst="rect">
            <a:avLst/>
          </a:prstGeom>
          <a:noFill/>
        </p:spPr>
        <p:txBody>
          <a:bodyPr wrap="square" rtlCol="0" anchor="ctr"/>
          <a:lstStyle/>
          <a:p>
            <a:pPr marL="0" indent="0" algn="r">
              <a:buNone/>
            </a:pPr>
            <a:r>
              <a:rPr lang="en-US" sz="1000" b="1" dirty="0">
                <a:solidFill>
                  <a:srgbClr val="C46467"/>
                </a:solidFill>
                <a:latin typeface="Avenir Next" panose="020B0803020202020204" pitchFamily="34" charset="0"/>
                <a:ea typeface="Avenir Next" panose="020B0803020202020204" pitchFamily="34" charset="-122"/>
                <a:cs typeface="Avenir Next" panose="020B0803020202020204" pitchFamily="34" charset="-120"/>
              </a:rPr>
              <a:t>04</a:t>
            </a:r>
            <a:endParaRPr lang="en-US" sz="1000" dirty="0"/>
          </a:p>
        </p:txBody>
      </p:sp>
      <p:sp>
        <p:nvSpPr>
          <p:cNvPr id="8" name="Text 6"/>
          <p:cNvSpPr/>
          <p:nvPr/>
        </p:nvSpPr>
        <p:spPr>
          <a:xfrm>
            <a:off x="822960" y="868680"/>
            <a:ext cx="10012680" cy="621792"/>
          </a:xfrm>
          <a:prstGeom prst="rect">
            <a:avLst/>
          </a:prstGeom>
          <a:noFill/>
        </p:spPr>
        <p:txBody>
          <a:bodyPr wrap="square" lIns="0" tIns="0" rIns="0" bIns="0" rtlCol="0" anchor="ctr"/>
          <a:lstStyle/>
          <a:p>
            <a:pPr marL="0" indent="0">
              <a:buNone/>
            </a:pPr>
            <a:r>
              <a:rPr lang="en-US" sz="2160" b="1" dirty="0">
                <a:solidFill>
                  <a:srgbClr val="5B4338"/>
                </a:solidFill>
                <a:latin typeface="Songti SC" panose="02010800040101010101" pitchFamily="34" charset="-122"/>
                <a:ea typeface="Songti SC" panose="02010800040101010101" pitchFamily="34" charset="-122"/>
                <a:cs typeface="Songti SC" panose="02010800040101010101" pitchFamily="34" charset="-120"/>
              </a:rPr>
              <a:t>主流程已经在全栈跑通，</a:t>
            </a:r>
            <a:r>
              <a:rPr lang="zh-CN" altLang="en-US" sz="2160" b="1" dirty="0">
                <a:solidFill>
                  <a:srgbClr val="5B4338"/>
                </a:solidFill>
                <a:latin typeface="Songti SC" panose="02010800040101010101" pitchFamily="34" charset="-122"/>
                <a:ea typeface="Songti SC" panose="02010800040101010101" pitchFamily="34" charset="-122"/>
                <a:cs typeface="Songti SC" panose="02010800040101010101" pitchFamily="34" charset="-120"/>
              </a:rPr>
              <a:t>在</a:t>
            </a:r>
            <a:r>
              <a:rPr lang="en-US" sz="2160" b="1" dirty="0">
                <a:solidFill>
                  <a:srgbClr val="5B4338"/>
                </a:solidFill>
                <a:latin typeface="Songti SC" panose="02010800040101010101" pitchFamily="34" charset="-122"/>
                <a:ea typeface="Songti SC" panose="02010800040101010101" pitchFamily="34" charset="-122"/>
                <a:cs typeface="Songti SC" panose="02010800040101010101" pitchFamily="34" charset="-120"/>
              </a:rPr>
              <a:t>AI</a:t>
            </a:r>
            <a:r>
              <a:rPr lang="zh-CN" altLang="en-US" sz="2160" b="1" dirty="0">
                <a:solidFill>
                  <a:srgbClr val="5B4338"/>
                </a:solidFill>
                <a:latin typeface="Songti SC" panose="02010800040101010101" pitchFamily="34" charset="-122"/>
                <a:ea typeface="Songti SC" panose="02010800040101010101" pitchFamily="34" charset="-122"/>
                <a:cs typeface="Songti SC" panose="02010800040101010101" pitchFamily="34" charset="-120"/>
              </a:rPr>
              <a:t>的加持下</a:t>
            </a:r>
            <a:r>
              <a:rPr lang="en-US" altLang="zh-CN" sz="2160" b="1" dirty="0">
                <a:solidFill>
                  <a:srgbClr val="5B4338"/>
                </a:solidFill>
                <a:latin typeface="Songti SC" panose="02010800040101010101" pitchFamily="34" charset="-122"/>
                <a:ea typeface="Songti SC" panose="02010800040101010101" pitchFamily="34" charset="-122"/>
                <a:cs typeface="Songti SC" panose="02010800040101010101" pitchFamily="34" charset="-120"/>
              </a:rPr>
              <a:t> </a:t>
            </a:r>
            <a:r>
              <a:rPr lang="en-US" sz="2160" b="1" dirty="0">
                <a:solidFill>
                  <a:srgbClr val="5B4338"/>
                </a:solidFill>
                <a:latin typeface="Songti SC" panose="02010800040101010101" pitchFamily="34" charset="-122"/>
                <a:ea typeface="Songti SC" panose="02010800040101010101" pitchFamily="34" charset="-122"/>
                <a:cs typeface="Songti SC" panose="02010800040101010101" pitchFamily="34" charset="-120"/>
              </a:rPr>
              <a:t>底层技术链路足够支撑下一阶段验证</a:t>
            </a:r>
            <a:endParaRPr lang="en-US" sz="2160" dirty="0"/>
          </a:p>
        </p:txBody>
      </p:sp>
      <p:sp>
        <p:nvSpPr>
          <p:cNvPr id="9" name="Text 7"/>
          <p:cNvSpPr/>
          <p:nvPr/>
        </p:nvSpPr>
        <p:spPr>
          <a:xfrm>
            <a:off x="822960" y="1331468"/>
            <a:ext cx="7498080" cy="420624"/>
          </a:xfrm>
          <a:prstGeom prst="rect">
            <a:avLst/>
          </a:prstGeom>
          <a:noFill/>
        </p:spPr>
        <p:txBody>
          <a:bodyPr wrap="square" lIns="0" tIns="0" rIns="0" bIns="0" rtlCol="0" anchor="ctr"/>
          <a:lstStyle/>
          <a:p>
            <a:pPr marL="0" indent="0">
              <a:buNone/>
            </a:pPr>
            <a:r>
              <a:rPr lang="en-US" sz="1050" dirty="0">
                <a:solidFill>
                  <a:srgbClr val="866F63"/>
                </a:solidFill>
                <a:latin typeface="Hiragino Sans GB" panose="020B0300000000000000" pitchFamily="34" charset="-122"/>
                <a:ea typeface="Hiragino Sans GB" panose="020B0300000000000000" pitchFamily="34" charset="-122"/>
                <a:cs typeface="Hiragino Sans GB" panose="020B0300000000000000" pitchFamily="34" charset="-120"/>
              </a:rPr>
              <a:t>当前阶段应被定义为 PoC + 高保真 MVP：产品可演示，技术可复用，下一步重点是验证真实用户与场景。</a:t>
            </a:r>
            <a:endParaRPr lang="en-US" sz="1050" dirty="0"/>
          </a:p>
        </p:txBody>
      </p:sp>
      <p:sp>
        <p:nvSpPr>
          <p:cNvPr id="10" name="Shape 8"/>
          <p:cNvSpPr/>
          <p:nvPr/>
        </p:nvSpPr>
        <p:spPr>
          <a:xfrm>
            <a:off x="868680" y="1736725"/>
            <a:ext cx="3716020" cy="4311015"/>
          </a:xfrm>
          <a:prstGeom prst="roundRect">
            <a:avLst>
              <a:gd name="adj" fmla="val 2844"/>
            </a:avLst>
          </a:prstGeom>
          <a:solidFill>
            <a:srgbClr val="FFFDF9"/>
          </a:solidFill>
          <a:ln w="12700">
            <a:solidFill>
              <a:srgbClr val="E9DBD0"/>
            </a:solidFill>
            <a:prstDash val="solid"/>
          </a:ln>
        </p:spPr>
      </p:sp>
      <p:sp>
        <p:nvSpPr>
          <p:cNvPr id="11" name="Shape 9"/>
          <p:cNvSpPr/>
          <p:nvPr/>
        </p:nvSpPr>
        <p:spPr>
          <a:xfrm>
            <a:off x="1078992" y="1938528"/>
            <a:ext cx="1600200" cy="347472"/>
          </a:xfrm>
          <a:prstGeom prst="roundRect">
            <a:avLst>
              <a:gd name="adj" fmla="val 21053"/>
            </a:avLst>
          </a:prstGeom>
          <a:solidFill>
            <a:srgbClr val="FBF5EF"/>
          </a:solidFill>
          <a:ln w="12700">
            <a:solidFill>
              <a:srgbClr val="E9DBD0"/>
            </a:solidFill>
            <a:prstDash val="solid"/>
          </a:ln>
        </p:spPr>
      </p:sp>
      <p:sp>
        <p:nvSpPr>
          <p:cNvPr id="12" name="Text 10"/>
          <p:cNvSpPr/>
          <p:nvPr/>
        </p:nvSpPr>
        <p:spPr>
          <a:xfrm>
            <a:off x="1078992" y="2007108"/>
            <a:ext cx="1600200" cy="182880"/>
          </a:xfrm>
          <a:prstGeom prst="rect">
            <a:avLst/>
          </a:prstGeom>
          <a:noFill/>
        </p:spPr>
        <p:txBody>
          <a:bodyPr wrap="square" lIns="0" tIns="0" rIns="0" bIns="0" rtlCol="0" anchor="ctr"/>
          <a:lstStyle/>
          <a:p>
            <a:pPr marL="0" indent="0" algn="ctr">
              <a:buNone/>
            </a:pPr>
            <a:r>
              <a:rPr lang="en-US" sz="850" b="1" dirty="0">
                <a:solidFill>
                  <a:srgbClr val="866F63"/>
                </a:solidFill>
                <a:latin typeface="Avenir Next" panose="020B0803020202020204" pitchFamily="34" charset="0"/>
                <a:ea typeface="Avenir Next" panose="020B0803020202020204" pitchFamily="34" charset="-122"/>
                <a:cs typeface="Avenir Next" panose="020B0803020202020204" pitchFamily="34" charset="-120"/>
              </a:rPr>
              <a:t>PROOF OF EXECUTION</a:t>
            </a:r>
            <a:endParaRPr lang="en-US" sz="850" dirty="0"/>
          </a:p>
        </p:txBody>
      </p:sp>
      <p:sp>
        <p:nvSpPr>
          <p:cNvPr id="13" name="Text 11"/>
          <p:cNvSpPr/>
          <p:nvPr/>
        </p:nvSpPr>
        <p:spPr>
          <a:xfrm>
            <a:off x="1078992" y="2438400"/>
            <a:ext cx="2011680" cy="219456"/>
          </a:xfrm>
          <a:prstGeom prst="rect">
            <a:avLst/>
          </a:prstGeom>
          <a:noFill/>
        </p:spPr>
        <p:txBody>
          <a:bodyPr wrap="square" lIns="0" tIns="0" rIns="0" bIns="0" rtlCol="0" anchor="ctr"/>
          <a:lstStyle/>
          <a:p>
            <a:pPr marL="0" indent="0">
              <a:buNone/>
            </a:pPr>
            <a:r>
              <a:rPr lang="en-US" sz="1800" b="1" dirty="0">
                <a:solidFill>
                  <a:srgbClr val="5B4338"/>
                </a:solidFill>
                <a:latin typeface="Hiragino Sans GB" panose="020B0300000000000000" pitchFamily="34" charset="-122"/>
                <a:ea typeface="Hiragino Sans GB" panose="020B0300000000000000" pitchFamily="34" charset="-122"/>
                <a:cs typeface="Hiragino Sans GB" panose="020B0300000000000000" pitchFamily="34" charset="-120"/>
              </a:rPr>
              <a:t>主流程已跑通</a:t>
            </a:r>
            <a:endParaRPr lang="en-US" sz="1800" dirty="0"/>
          </a:p>
        </p:txBody>
      </p:sp>
      <p:sp>
        <p:nvSpPr>
          <p:cNvPr id="14" name="Shape 12"/>
          <p:cNvSpPr/>
          <p:nvPr/>
        </p:nvSpPr>
        <p:spPr>
          <a:xfrm>
            <a:off x="1070102" y="3014980"/>
            <a:ext cx="91440" cy="91440"/>
          </a:xfrm>
          <a:prstGeom prst="ellipse">
            <a:avLst/>
          </a:prstGeom>
          <a:solidFill>
            <a:srgbClr val="C46467"/>
          </a:solidFill>
          <a:ln w="12700">
            <a:solidFill>
              <a:srgbClr val="C46467">
                <a:alpha val="0"/>
              </a:srgbClr>
            </a:solidFill>
            <a:prstDash val="solid"/>
          </a:ln>
        </p:spPr>
      </p:sp>
      <p:sp>
        <p:nvSpPr>
          <p:cNvPr id="15" name="Text 13"/>
          <p:cNvSpPr/>
          <p:nvPr/>
        </p:nvSpPr>
        <p:spPr>
          <a:xfrm>
            <a:off x="1243584" y="2816352"/>
            <a:ext cx="3154680" cy="621792"/>
          </a:xfrm>
          <a:prstGeom prst="rect">
            <a:avLst/>
          </a:prstGeom>
          <a:noFill/>
        </p:spPr>
        <p:txBody>
          <a:bodyPr wrap="square" lIns="0" tIns="0" rIns="0" bIns="0" rtlCol="0" anchor="ctr"/>
          <a:lstStyle/>
          <a:p>
            <a:pPr marL="0" indent="0">
              <a:lnSpc>
                <a:spcPct val="120000"/>
              </a:lnSpc>
              <a:buNone/>
            </a:pPr>
            <a:r>
              <a:rPr lang="en-US" sz="1100" dirty="0">
                <a:solidFill>
                  <a:srgbClr val="5B4338"/>
                </a:solidFill>
                <a:latin typeface="Hiragino Sans GB" panose="020B0300000000000000" pitchFamily="34" charset="-122"/>
                <a:ea typeface="Hiragino Sans GB" panose="020B0300000000000000" pitchFamily="34" charset="-122"/>
                <a:cs typeface="Hiragino Sans GB" panose="020B0300000000000000" pitchFamily="34" charset="-120"/>
              </a:rPr>
              <a:t>后端 PoC 已支持 10 种风格、颜色 / 形状 / 纹理、透明 PNG、去背景与盲盒效果。</a:t>
            </a:r>
            <a:endParaRPr lang="en-US" sz="1100" dirty="0"/>
          </a:p>
        </p:txBody>
      </p:sp>
      <p:sp>
        <p:nvSpPr>
          <p:cNvPr id="16" name="Shape 14"/>
          <p:cNvSpPr/>
          <p:nvPr/>
        </p:nvSpPr>
        <p:spPr>
          <a:xfrm>
            <a:off x="1070102" y="3827526"/>
            <a:ext cx="91440" cy="91440"/>
          </a:xfrm>
          <a:prstGeom prst="ellipse">
            <a:avLst/>
          </a:prstGeom>
          <a:solidFill>
            <a:srgbClr val="C46467"/>
          </a:solidFill>
          <a:ln w="12700">
            <a:solidFill>
              <a:srgbClr val="C46467">
                <a:alpha val="0"/>
              </a:srgbClr>
            </a:solidFill>
            <a:prstDash val="solid"/>
          </a:ln>
        </p:spPr>
      </p:sp>
      <p:sp>
        <p:nvSpPr>
          <p:cNvPr id="17" name="Text 15"/>
          <p:cNvSpPr/>
          <p:nvPr/>
        </p:nvSpPr>
        <p:spPr>
          <a:xfrm>
            <a:off x="1243584" y="3584448"/>
            <a:ext cx="3154680" cy="731520"/>
          </a:xfrm>
          <a:prstGeom prst="rect">
            <a:avLst/>
          </a:prstGeom>
          <a:noFill/>
        </p:spPr>
        <p:txBody>
          <a:bodyPr wrap="square" lIns="0" tIns="0" rIns="0" bIns="0" rtlCol="0" anchor="ctr"/>
          <a:lstStyle/>
          <a:p>
            <a:pPr marL="0" indent="0">
              <a:lnSpc>
                <a:spcPct val="130000"/>
              </a:lnSpc>
              <a:buNone/>
            </a:pPr>
            <a:r>
              <a:rPr lang="zh-CN" altLang="en-US" sz="1100" dirty="0">
                <a:solidFill>
                  <a:srgbClr val="5B4338"/>
                </a:solidFill>
                <a:latin typeface="Hiragino Sans GB" panose="020B0300000000000000" pitchFamily="34" charset="-122"/>
                <a:ea typeface="Hiragino Sans GB" panose="020B0300000000000000" pitchFamily="34" charset="-122"/>
                <a:cs typeface="Hiragino Sans GB" panose="020B0300000000000000" pitchFamily="34" charset="-120"/>
              </a:rPr>
              <a:t>当前</a:t>
            </a:r>
            <a:r>
              <a:rPr lang="en-US" sz="1100" dirty="0">
                <a:solidFill>
                  <a:srgbClr val="5B4338"/>
                </a:solidFill>
                <a:latin typeface="Hiragino Sans GB" panose="020B0300000000000000" pitchFamily="34" charset="-122"/>
                <a:ea typeface="Hiragino Sans GB" panose="020B0300000000000000" pitchFamily="34" charset="-122"/>
                <a:cs typeface="Hiragino Sans GB" panose="020B0300000000000000" pitchFamily="34" charset="-120"/>
              </a:rPr>
              <a:t>项目已跑通“上传 → 生成 → 编辑 → 预览 → 保存 → 首页展示 → 地图展示”主链路。</a:t>
            </a:r>
            <a:endParaRPr lang="en-US" sz="1100" dirty="0"/>
          </a:p>
        </p:txBody>
      </p:sp>
      <p:sp>
        <p:nvSpPr>
          <p:cNvPr id="18" name="Shape 16"/>
          <p:cNvSpPr/>
          <p:nvPr/>
        </p:nvSpPr>
        <p:spPr>
          <a:xfrm>
            <a:off x="1070102" y="4707128"/>
            <a:ext cx="91440" cy="91440"/>
          </a:xfrm>
          <a:prstGeom prst="ellipse">
            <a:avLst/>
          </a:prstGeom>
          <a:solidFill>
            <a:srgbClr val="C46467"/>
          </a:solidFill>
          <a:ln w="12700">
            <a:solidFill>
              <a:srgbClr val="C46467">
                <a:alpha val="0"/>
              </a:srgbClr>
            </a:solidFill>
            <a:prstDash val="solid"/>
          </a:ln>
        </p:spPr>
      </p:sp>
      <p:sp>
        <p:nvSpPr>
          <p:cNvPr id="19" name="Text 17"/>
          <p:cNvSpPr/>
          <p:nvPr/>
        </p:nvSpPr>
        <p:spPr>
          <a:xfrm>
            <a:off x="1243584" y="4592955"/>
            <a:ext cx="3054096" cy="713232"/>
          </a:xfrm>
          <a:prstGeom prst="rect">
            <a:avLst/>
          </a:prstGeom>
          <a:noFill/>
        </p:spPr>
        <p:txBody>
          <a:bodyPr wrap="square" lIns="0" tIns="0" rIns="0" bIns="0" rtlCol="0" anchor="ctr"/>
          <a:lstStyle/>
          <a:p>
            <a:pPr marL="0" indent="0">
              <a:lnSpc>
                <a:spcPct val="130000"/>
              </a:lnSpc>
              <a:buNone/>
            </a:pPr>
            <a:r>
              <a:rPr lang="en-US" sz="1100" dirty="0">
                <a:solidFill>
                  <a:srgbClr val="5B4338"/>
                </a:solidFill>
                <a:latin typeface="Hiragino Sans GB" panose="020B0300000000000000" pitchFamily="34" charset="-122"/>
                <a:ea typeface="Hiragino Sans GB" panose="020B0300000000000000" pitchFamily="34" charset="-122"/>
                <a:cs typeface="Hiragino Sans GB" panose="020B0300000000000000" pitchFamily="34" charset="-120"/>
              </a:rPr>
              <a:t>技术实现采用 React 前端 + FastAPI 后端，配合 AI</a:t>
            </a:r>
            <a:r>
              <a:rPr lang="en-US" altLang="zh-CN" sz="1100" dirty="0">
                <a:solidFill>
                  <a:srgbClr val="5B4338"/>
                </a:solidFill>
                <a:latin typeface="Hiragino Sans GB" panose="020B0300000000000000" pitchFamily="34" charset="-122"/>
                <a:ea typeface="Hiragino Sans GB" panose="020B0300000000000000" pitchFamily="34" charset="-122"/>
                <a:cs typeface="Hiragino Sans GB" panose="020B0300000000000000" pitchFamily="34" charset="-120"/>
              </a:rPr>
              <a:t>GC</a:t>
            </a:r>
            <a:r>
              <a:rPr lang="en-US" sz="1100" dirty="0">
                <a:solidFill>
                  <a:srgbClr val="5B4338"/>
                </a:solidFill>
                <a:latin typeface="Hiragino Sans GB" panose="020B0300000000000000" pitchFamily="34" charset="-122"/>
                <a:ea typeface="Hiragino Sans GB" panose="020B0300000000000000" pitchFamily="34" charset="-122"/>
                <a:cs typeface="Hiragino Sans GB" panose="020B0300000000000000" pitchFamily="34" charset="-120"/>
              </a:rPr>
              <a:t>、rembg 与 </a:t>
            </a:r>
            <a:r>
              <a:rPr lang="zh-CN" altLang="en-US" sz="1100" dirty="0">
                <a:solidFill>
                  <a:srgbClr val="5B4338"/>
                </a:solidFill>
                <a:latin typeface="Hiragino Sans GB" panose="020B0300000000000000" pitchFamily="34" charset="-122"/>
                <a:ea typeface="Hiragino Sans GB" panose="020B0300000000000000" pitchFamily="34" charset="-122"/>
                <a:cs typeface="Hiragino Sans GB" panose="020B0300000000000000" pitchFamily="34" charset="-120"/>
              </a:rPr>
              <a:t>数据库</a:t>
            </a:r>
            <a:r>
              <a:rPr lang="en-US" sz="1100" dirty="0">
                <a:solidFill>
                  <a:srgbClr val="5B4338"/>
                </a:solidFill>
                <a:latin typeface="Hiragino Sans GB" panose="020B0300000000000000" pitchFamily="34" charset="-122"/>
                <a:ea typeface="Hiragino Sans GB" panose="020B0300000000000000" pitchFamily="34" charset="-122"/>
                <a:cs typeface="Hiragino Sans GB" panose="020B0300000000000000" pitchFamily="34" charset="-120"/>
              </a:rPr>
              <a:t> 完成生成、编辑和持久化。</a:t>
            </a:r>
            <a:endParaRPr lang="en-US" sz="1100" dirty="0"/>
          </a:p>
        </p:txBody>
      </p:sp>
      <p:sp>
        <p:nvSpPr>
          <p:cNvPr id="20" name="Shape 18"/>
          <p:cNvSpPr/>
          <p:nvPr/>
        </p:nvSpPr>
        <p:spPr>
          <a:xfrm>
            <a:off x="5212080" y="1920240"/>
            <a:ext cx="1783080" cy="3246120"/>
          </a:xfrm>
          <a:prstGeom prst="roundRect">
            <a:avLst>
              <a:gd name="adj" fmla="val 6154"/>
            </a:avLst>
          </a:prstGeom>
          <a:solidFill>
            <a:srgbClr val="FFFDF9"/>
          </a:solidFill>
          <a:ln w="12700">
            <a:solidFill>
              <a:srgbClr val="E9DBD0"/>
            </a:solidFill>
            <a:prstDash val="solid"/>
          </a:ln>
        </p:spPr>
      </p:sp>
      <p:pic>
        <p:nvPicPr>
          <p:cNvPr id="21" name="Image 0" descr="/Users/ronggang/Downloads/微信图片_20260328154218_1144_149.jpg微信图片_20260328154218_1144_149"/>
          <p:cNvPicPr>
            <a:picLocks noChangeAspect="1"/>
          </p:cNvPicPr>
          <p:nvPr/>
        </p:nvPicPr>
        <p:blipFill>
          <a:blip r:embed="rId1"/>
          <a:srcRect l="-465" t="7190" r="465" b="40824"/>
          <a:stretch>
            <a:fillRect/>
          </a:stretch>
        </p:blipFill>
        <p:spPr>
          <a:xfrm>
            <a:off x="5277612" y="1993392"/>
            <a:ext cx="1636776" cy="2752344"/>
          </a:xfrm>
          <a:prstGeom prst="rect">
            <a:avLst/>
          </a:prstGeom>
        </p:spPr>
      </p:pic>
      <p:sp>
        <p:nvSpPr>
          <p:cNvPr id="22" name="Text 19"/>
          <p:cNvSpPr/>
          <p:nvPr/>
        </p:nvSpPr>
        <p:spPr>
          <a:xfrm>
            <a:off x="5212080" y="4828032"/>
            <a:ext cx="1783080" cy="146304"/>
          </a:xfrm>
          <a:prstGeom prst="rect">
            <a:avLst/>
          </a:prstGeom>
          <a:noFill/>
        </p:spPr>
        <p:txBody>
          <a:bodyPr wrap="square" lIns="0" tIns="0" rIns="0" bIns="0" rtlCol="0" anchor="ctr"/>
          <a:lstStyle/>
          <a:p>
            <a:pPr marL="0" indent="0" algn="ctr">
              <a:buNone/>
            </a:pPr>
            <a:r>
              <a:rPr lang="en-US" sz="900" b="1" dirty="0">
                <a:solidFill>
                  <a:srgbClr val="866F63"/>
                </a:solidFill>
                <a:latin typeface="Hiragino Sans GB" panose="020B0300000000000000" pitchFamily="34" charset="-122"/>
                <a:ea typeface="Hiragino Sans GB" panose="020B0300000000000000" pitchFamily="34" charset="-122"/>
                <a:cs typeface="Hiragino Sans GB" panose="020B0300000000000000" pitchFamily="34" charset="-120"/>
              </a:rPr>
              <a:t>首页入口</a:t>
            </a:r>
            <a:endParaRPr lang="en-US" sz="900" dirty="0"/>
          </a:p>
        </p:txBody>
      </p:sp>
      <p:sp>
        <p:nvSpPr>
          <p:cNvPr id="23" name="Shape 20"/>
          <p:cNvSpPr/>
          <p:nvPr/>
        </p:nvSpPr>
        <p:spPr>
          <a:xfrm>
            <a:off x="7269480" y="1737360"/>
            <a:ext cx="1874520" cy="3456432"/>
          </a:xfrm>
          <a:prstGeom prst="roundRect">
            <a:avLst>
              <a:gd name="adj" fmla="val 5854"/>
            </a:avLst>
          </a:prstGeom>
          <a:solidFill>
            <a:srgbClr val="FFFDF9"/>
          </a:solidFill>
          <a:ln w="12700">
            <a:solidFill>
              <a:srgbClr val="E9DBD0"/>
            </a:solidFill>
            <a:prstDash val="solid"/>
          </a:ln>
        </p:spPr>
      </p:sp>
      <p:pic>
        <p:nvPicPr>
          <p:cNvPr id="24" name="Image 1" descr="/Users/ronggang/Downloads/微信图片_20260328154218_1144_149.jpg微信图片_20260328154218_1144_149"/>
          <p:cNvPicPr>
            <a:picLocks noChangeAspect="1"/>
          </p:cNvPicPr>
          <p:nvPr/>
        </p:nvPicPr>
        <p:blipFill>
          <a:blip r:embed="rId1"/>
          <a:srcRect l="-404" t="39303" r="404" b="7713"/>
          <a:stretch>
            <a:fillRect/>
          </a:stretch>
        </p:blipFill>
        <p:spPr>
          <a:xfrm>
            <a:off x="7342632" y="1810512"/>
            <a:ext cx="1728216" cy="2962656"/>
          </a:xfrm>
          <a:prstGeom prst="rect">
            <a:avLst/>
          </a:prstGeom>
        </p:spPr>
      </p:pic>
      <p:sp>
        <p:nvSpPr>
          <p:cNvPr id="25" name="Text 21"/>
          <p:cNvSpPr/>
          <p:nvPr/>
        </p:nvSpPr>
        <p:spPr>
          <a:xfrm>
            <a:off x="7269480" y="4855464"/>
            <a:ext cx="1874520" cy="146304"/>
          </a:xfrm>
          <a:prstGeom prst="rect">
            <a:avLst/>
          </a:prstGeom>
          <a:noFill/>
        </p:spPr>
        <p:txBody>
          <a:bodyPr wrap="square" lIns="0" tIns="0" rIns="0" bIns="0" rtlCol="0" anchor="ctr"/>
          <a:lstStyle/>
          <a:p>
            <a:pPr marL="0" indent="0" algn="ctr">
              <a:buNone/>
            </a:pPr>
            <a:r>
              <a:rPr lang="en-US" sz="900" b="1" dirty="0">
                <a:solidFill>
                  <a:srgbClr val="866F63"/>
                </a:solidFill>
                <a:latin typeface="Hiragino Sans GB" panose="020B0300000000000000" pitchFamily="34" charset="-122"/>
                <a:ea typeface="Hiragino Sans GB" panose="020B0300000000000000" pitchFamily="34" charset="-122"/>
                <a:cs typeface="Hiragino Sans GB" panose="020B0300000000000000" pitchFamily="34" charset="-120"/>
              </a:rPr>
              <a:t>印迹列表</a:t>
            </a:r>
            <a:endParaRPr lang="en-US" sz="900" dirty="0"/>
          </a:p>
        </p:txBody>
      </p:sp>
      <p:sp>
        <p:nvSpPr>
          <p:cNvPr id="26" name="Shape 22"/>
          <p:cNvSpPr/>
          <p:nvPr/>
        </p:nvSpPr>
        <p:spPr>
          <a:xfrm>
            <a:off x="9445752" y="1965960"/>
            <a:ext cx="1755648" cy="3182112"/>
          </a:xfrm>
          <a:prstGeom prst="roundRect">
            <a:avLst>
              <a:gd name="adj" fmla="val 6250"/>
            </a:avLst>
          </a:prstGeom>
          <a:solidFill>
            <a:srgbClr val="FFFDF9"/>
          </a:solidFill>
          <a:ln w="12700">
            <a:solidFill>
              <a:srgbClr val="E9DBD0"/>
            </a:solidFill>
            <a:prstDash val="solid"/>
          </a:ln>
        </p:spPr>
      </p:sp>
      <p:pic>
        <p:nvPicPr>
          <p:cNvPr id="27" name="Image 2" descr="/Users/ronggang/Downloads/微信图片_20260328154220_1146_149.jpg微信图片_20260328154220_1146_149"/>
          <p:cNvPicPr>
            <a:picLocks noChangeAspect="1"/>
          </p:cNvPicPr>
          <p:nvPr/>
        </p:nvPicPr>
        <p:blipFill>
          <a:blip r:embed="rId2"/>
          <a:srcRect t="12299" b="12299"/>
          <a:stretch>
            <a:fillRect/>
          </a:stretch>
        </p:blipFill>
        <p:spPr>
          <a:xfrm>
            <a:off x="9518904" y="2039112"/>
            <a:ext cx="1609344" cy="2688336"/>
          </a:xfrm>
          <a:prstGeom prst="rect">
            <a:avLst/>
          </a:prstGeom>
        </p:spPr>
      </p:pic>
      <p:sp>
        <p:nvSpPr>
          <p:cNvPr id="28" name="Text 23"/>
          <p:cNvSpPr/>
          <p:nvPr/>
        </p:nvSpPr>
        <p:spPr>
          <a:xfrm>
            <a:off x="9445752" y="4809744"/>
            <a:ext cx="1755648" cy="146304"/>
          </a:xfrm>
          <a:prstGeom prst="rect">
            <a:avLst/>
          </a:prstGeom>
          <a:noFill/>
        </p:spPr>
        <p:txBody>
          <a:bodyPr wrap="square" lIns="0" tIns="0" rIns="0" bIns="0" rtlCol="0" anchor="ctr"/>
          <a:lstStyle/>
          <a:p>
            <a:pPr marL="0" indent="0" algn="ctr">
              <a:buNone/>
            </a:pPr>
            <a:r>
              <a:rPr lang="en-US" sz="900" b="1" dirty="0">
                <a:solidFill>
                  <a:srgbClr val="866F63"/>
                </a:solidFill>
                <a:latin typeface="Hiragino Sans GB" panose="020B0300000000000000" pitchFamily="34" charset="-122"/>
                <a:ea typeface="Hiragino Sans GB" panose="020B0300000000000000" pitchFamily="34" charset="-122"/>
                <a:cs typeface="Hiragino Sans GB" panose="020B0300000000000000" pitchFamily="34" charset="-120"/>
              </a:rPr>
              <a:t>地图页</a:t>
            </a:r>
            <a:endParaRPr lang="en-US" sz="900" dirty="0"/>
          </a:p>
        </p:txBody>
      </p:sp>
      <p:sp>
        <p:nvSpPr>
          <p:cNvPr id="29" name="Shape 24"/>
          <p:cNvSpPr/>
          <p:nvPr/>
        </p:nvSpPr>
        <p:spPr>
          <a:xfrm>
            <a:off x="5138928" y="5394960"/>
            <a:ext cx="6053328" cy="731520"/>
          </a:xfrm>
          <a:prstGeom prst="roundRect">
            <a:avLst>
              <a:gd name="adj" fmla="val 15000"/>
            </a:avLst>
          </a:prstGeom>
          <a:solidFill>
            <a:srgbClr val="FBF5EF"/>
          </a:solidFill>
          <a:ln w="12700">
            <a:solidFill>
              <a:srgbClr val="E9DBD0"/>
            </a:solidFill>
            <a:prstDash val="solid"/>
          </a:ln>
        </p:spPr>
      </p:sp>
      <p:sp>
        <p:nvSpPr>
          <p:cNvPr id="30" name="Shape 25"/>
          <p:cNvSpPr/>
          <p:nvPr/>
        </p:nvSpPr>
        <p:spPr>
          <a:xfrm>
            <a:off x="5321808" y="5596128"/>
            <a:ext cx="1417320" cy="347472"/>
          </a:xfrm>
          <a:prstGeom prst="roundRect">
            <a:avLst>
              <a:gd name="adj" fmla="val 21053"/>
            </a:avLst>
          </a:prstGeom>
          <a:solidFill>
            <a:srgbClr val="FBF5EF"/>
          </a:solidFill>
          <a:ln w="12700">
            <a:solidFill>
              <a:srgbClr val="E9DBD0"/>
            </a:solidFill>
            <a:prstDash val="solid"/>
          </a:ln>
        </p:spPr>
      </p:sp>
      <p:sp>
        <p:nvSpPr>
          <p:cNvPr id="31" name="Text 26"/>
          <p:cNvSpPr/>
          <p:nvPr/>
        </p:nvSpPr>
        <p:spPr>
          <a:xfrm>
            <a:off x="5321808" y="5664708"/>
            <a:ext cx="1417320" cy="182880"/>
          </a:xfrm>
          <a:prstGeom prst="rect">
            <a:avLst/>
          </a:prstGeom>
          <a:noFill/>
        </p:spPr>
        <p:txBody>
          <a:bodyPr wrap="square" lIns="0" tIns="0" rIns="0" bIns="0" rtlCol="0" anchor="ctr"/>
          <a:lstStyle/>
          <a:p>
            <a:pPr marL="0" indent="0" algn="ctr">
              <a:buNone/>
            </a:pPr>
            <a:r>
              <a:rPr lang="en-US" sz="850" b="1" dirty="0">
                <a:solidFill>
                  <a:srgbClr val="866F63"/>
                </a:solidFill>
                <a:latin typeface="Hiragino Sans GB" panose="020B0300000000000000" pitchFamily="34" charset="-122"/>
                <a:ea typeface="Hiragino Sans GB" panose="020B0300000000000000" pitchFamily="34" charset="-122"/>
                <a:cs typeface="Hiragino Sans GB" panose="020B0300000000000000" pitchFamily="34" charset="-120"/>
              </a:rPr>
              <a:t>React 18 + Vite</a:t>
            </a:r>
            <a:endParaRPr lang="en-US" sz="850" dirty="0"/>
          </a:p>
        </p:txBody>
      </p:sp>
      <p:sp>
        <p:nvSpPr>
          <p:cNvPr id="32" name="Shape 27"/>
          <p:cNvSpPr/>
          <p:nvPr/>
        </p:nvSpPr>
        <p:spPr>
          <a:xfrm>
            <a:off x="6903720" y="5596128"/>
            <a:ext cx="1024128" cy="347472"/>
          </a:xfrm>
          <a:prstGeom prst="roundRect">
            <a:avLst>
              <a:gd name="adj" fmla="val 21053"/>
            </a:avLst>
          </a:prstGeom>
          <a:solidFill>
            <a:srgbClr val="FBF5EF"/>
          </a:solidFill>
          <a:ln w="12700">
            <a:solidFill>
              <a:srgbClr val="E9DBD0"/>
            </a:solidFill>
            <a:prstDash val="solid"/>
          </a:ln>
        </p:spPr>
      </p:sp>
      <p:sp>
        <p:nvSpPr>
          <p:cNvPr id="33" name="Text 28"/>
          <p:cNvSpPr/>
          <p:nvPr/>
        </p:nvSpPr>
        <p:spPr>
          <a:xfrm>
            <a:off x="6903720" y="5664708"/>
            <a:ext cx="1024128" cy="182880"/>
          </a:xfrm>
          <a:prstGeom prst="rect">
            <a:avLst/>
          </a:prstGeom>
          <a:noFill/>
        </p:spPr>
        <p:txBody>
          <a:bodyPr wrap="square" lIns="0" tIns="0" rIns="0" bIns="0" rtlCol="0" anchor="ctr"/>
          <a:lstStyle/>
          <a:p>
            <a:pPr marL="0" indent="0" algn="ctr">
              <a:buNone/>
            </a:pPr>
            <a:r>
              <a:rPr lang="en-US" sz="850" b="1" dirty="0">
                <a:solidFill>
                  <a:srgbClr val="866F63"/>
                </a:solidFill>
                <a:latin typeface="Hiragino Sans GB" panose="020B0300000000000000" pitchFamily="34" charset="-122"/>
                <a:ea typeface="Hiragino Sans GB" panose="020B0300000000000000" pitchFamily="34" charset="-122"/>
                <a:cs typeface="Hiragino Sans GB" panose="020B0300000000000000" pitchFamily="34" charset="-120"/>
              </a:rPr>
              <a:t>FastAPI</a:t>
            </a:r>
            <a:endParaRPr lang="en-US" sz="850" dirty="0"/>
          </a:p>
        </p:txBody>
      </p:sp>
      <p:sp>
        <p:nvSpPr>
          <p:cNvPr id="34" name="Shape 29"/>
          <p:cNvSpPr/>
          <p:nvPr/>
        </p:nvSpPr>
        <p:spPr>
          <a:xfrm>
            <a:off x="8101584" y="5596128"/>
            <a:ext cx="1234440" cy="347472"/>
          </a:xfrm>
          <a:prstGeom prst="roundRect">
            <a:avLst>
              <a:gd name="adj" fmla="val 21053"/>
            </a:avLst>
          </a:prstGeom>
          <a:solidFill>
            <a:srgbClr val="FBF5EF"/>
          </a:solidFill>
          <a:ln w="12700">
            <a:solidFill>
              <a:srgbClr val="E9DBD0"/>
            </a:solidFill>
            <a:prstDash val="solid"/>
          </a:ln>
        </p:spPr>
      </p:sp>
      <p:sp>
        <p:nvSpPr>
          <p:cNvPr id="35" name="Text 30"/>
          <p:cNvSpPr/>
          <p:nvPr/>
        </p:nvSpPr>
        <p:spPr>
          <a:xfrm>
            <a:off x="8101584" y="5664708"/>
            <a:ext cx="1234440" cy="182880"/>
          </a:xfrm>
          <a:prstGeom prst="rect">
            <a:avLst/>
          </a:prstGeom>
          <a:noFill/>
        </p:spPr>
        <p:txBody>
          <a:bodyPr wrap="square" lIns="0" tIns="0" rIns="0" bIns="0" rtlCol="0" anchor="ctr"/>
          <a:lstStyle/>
          <a:p>
            <a:pPr marL="0" indent="0" algn="ctr">
              <a:buNone/>
            </a:pPr>
            <a:r>
              <a:rPr lang="en-US" sz="850" b="1" dirty="0">
                <a:solidFill>
                  <a:srgbClr val="866F63"/>
                </a:solidFill>
                <a:latin typeface="Hiragino Sans GB" panose="020B0300000000000000" pitchFamily="34" charset="-122"/>
                <a:ea typeface="Hiragino Sans GB" panose="020B0300000000000000" pitchFamily="34" charset="-122"/>
                <a:cs typeface="Hiragino Sans GB" panose="020B0300000000000000" pitchFamily="34" charset="-120"/>
              </a:rPr>
              <a:t>AIGC + rembg</a:t>
            </a:r>
            <a:endParaRPr lang="en-US" sz="850" dirty="0"/>
          </a:p>
        </p:txBody>
      </p:sp>
      <p:sp>
        <p:nvSpPr>
          <p:cNvPr id="36" name="Shape 31"/>
          <p:cNvSpPr/>
          <p:nvPr/>
        </p:nvSpPr>
        <p:spPr>
          <a:xfrm>
            <a:off x="9491472" y="5596128"/>
            <a:ext cx="1417320" cy="347472"/>
          </a:xfrm>
          <a:prstGeom prst="roundRect">
            <a:avLst>
              <a:gd name="adj" fmla="val 21053"/>
            </a:avLst>
          </a:prstGeom>
          <a:solidFill>
            <a:srgbClr val="FBF5EF"/>
          </a:solidFill>
          <a:ln w="12700">
            <a:solidFill>
              <a:srgbClr val="E9DBD0"/>
            </a:solidFill>
            <a:prstDash val="solid"/>
          </a:ln>
        </p:spPr>
      </p:sp>
      <p:sp>
        <p:nvSpPr>
          <p:cNvPr id="37" name="Text 32"/>
          <p:cNvSpPr/>
          <p:nvPr/>
        </p:nvSpPr>
        <p:spPr>
          <a:xfrm>
            <a:off x="9491472" y="5664708"/>
            <a:ext cx="1417320" cy="182880"/>
          </a:xfrm>
          <a:prstGeom prst="rect">
            <a:avLst/>
          </a:prstGeom>
          <a:noFill/>
        </p:spPr>
        <p:txBody>
          <a:bodyPr wrap="square" lIns="0" tIns="0" rIns="0" bIns="0" rtlCol="0" anchor="ctr"/>
          <a:lstStyle/>
          <a:p>
            <a:pPr marL="0" indent="0" algn="ctr">
              <a:buNone/>
            </a:pPr>
            <a:r>
              <a:rPr lang="en-US" sz="850" b="1" dirty="0">
                <a:solidFill>
                  <a:srgbClr val="866F63"/>
                </a:solidFill>
                <a:latin typeface="Hiragino Sans GB" panose="020B0300000000000000" pitchFamily="34" charset="-122"/>
                <a:ea typeface="Hiragino Sans GB" panose="020B0300000000000000" pitchFamily="34" charset="-122"/>
                <a:cs typeface="Hiragino Sans GB" panose="020B0300000000000000" pitchFamily="34" charset="-120"/>
              </a:rPr>
              <a:t>SQLite 持久化</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6515" y="0"/>
            <a:ext cx="12191695" cy="6858000"/>
          </a:xfrm>
          <a:prstGeom prst="rect">
            <a:avLst/>
          </a:prstGeom>
          <a:solidFill>
            <a:srgbClr val="F7F0E8"/>
          </a:solidFill>
          <a:ln w="12700">
            <a:solidFill>
              <a:srgbClr val="F7F0E8">
                <a:alpha val="0"/>
              </a:srgbClr>
            </a:solidFill>
            <a:prstDash val="solid"/>
          </a:ln>
        </p:spPr>
      </p:sp>
      <p:sp>
        <p:nvSpPr>
          <p:cNvPr id="3" name="Shape 1"/>
          <p:cNvSpPr/>
          <p:nvPr/>
        </p:nvSpPr>
        <p:spPr>
          <a:xfrm>
            <a:off x="9784080" y="-822960"/>
            <a:ext cx="3474720" cy="2468880"/>
          </a:xfrm>
          <a:prstGeom prst="ellipse">
            <a:avLst/>
          </a:prstGeom>
          <a:solidFill>
            <a:srgbClr val="F0D7D2">
              <a:alpha val="42000"/>
            </a:srgbClr>
          </a:solidFill>
          <a:ln w="12700">
            <a:solidFill>
              <a:srgbClr val="F7F0E8">
                <a:alpha val="0"/>
              </a:srgbClr>
            </a:solidFill>
            <a:prstDash val="solid"/>
          </a:ln>
        </p:spPr>
      </p:sp>
      <p:sp>
        <p:nvSpPr>
          <p:cNvPr id="4" name="Shape 2"/>
          <p:cNvSpPr/>
          <p:nvPr/>
        </p:nvSpPr>
        <p:spPr>
          <a:xfrm>
            <a:off x="-731520" y="5577840"/>
            <a:ext cx="2743200" cy="1920240"/>
          </a:xfrm>
          <a:prstGeom prst="ellipse">
            <a:avLst/>
          </a:prstGeom>
          <a:solidFill>
            <a:srgbClr val="E9C8C0">
              <a:alpha val="28000"/>
            </a:srgbClr>
          </a:solidFill>
          <a:ln w="12700">
            <a:solidFill>
              <a:srgbClr val="F7F0E8">
                <a:alpha val="0"/>
              </a:srgbClr>
            </a:solidFill>
            <a:prstDash val="solid"/>
          </a:ln>
        </p:spPr>
      </p:sp>
      <p:sp>
        <p:nvSpPr>
          <p:cNvPr id="5" name="Shape 3"/>
          <p:cNvSpPr/>
          <p:nvPr/>
        </p:nvSpPr>
        <p:spPr>
          <a:xfrm>
            <a:off x="713232" y="612648"/>
            <a:ext cx="310896" cy="0"/>
          </a:xfrm>
          <a:prstGeom prst="line">
            <a:avLst/>
          </a:prstGeom>
          <a:noFill/>
          <a:ln w="12700">
            <a:solidFill>
              <a:srgbClr val="C46467"/>
            </a:solidFill>
            <a:prstDash val="solid"/>
          </a:ln>
        </p:spPr>
      </p:sp>
      <p:sp>
        <p:nvSpPr>
          <p:cNvPr id="6" name="Text 4"/>
          <p:cNvSpPr/>
          <p:nvPr/>
        </p:nvSpPr>
        <p:spPr>
          <a:xfrm>
            <a:off x="1069848" y="429768"/>
            <a:ext cx="4206240" cy="201168"/>
          </a:xfrm>
          <a:prstGeom prst="rect">
            <a:avLst/>
          </a:prstGeom>
          <a:noFill/>
        </p:spPr>
        <p:txBody>
          <a:bodyPr wrap="square" rtlCol="0" anchor="ctr"/>
          <a:lstStyle/>
          <a:p>
            <a:pPr marL="0" indent="0">
              <a:buNone/>
            </a:pPr>
            <a:r>
              <a:rPr lang="en-US" sz="900" b="1" dirty="0">
                <a:solidFill>
                  <a:srgbClr val="866F63"/>
                </a:solidFill>
                <a:latin typeface="Avenir Next" panose="020B0803020202020204" pitchFamily="34" charset="0"/>
                <a:ea typeface="Avenir Next" panose="020B0803020202020204" pitchFamily="34" charset="-122"/>
                <a:cs typeface="Avenir Next" panose="020B0803020202020204" pitchFamily="34" charset="-120"/>
              </a:rPr>
              <a:t>USER VALUE</a:t>
            </a:r>
            <a:endParaRPr lang="en-US" sz="900" dirty="0"/>
          </a:p>
        </p:txBody>
      </p:sp>
      <p:sp>
        <p:nvSpPr>
          <p:cNvPr id="7" name="Text 5"/>
          <p:cNvSpPr/>
          <p:nvPr/>
        </p:nvSpPr>
        <p:spPr>
          <a:xfrm>
            <a:off x="11155680" y="384048"/>
            <a:ext cx="329184" cy="219456"/>
          </a:xfrm>
          <a:prstGeom prst="rect">
            <a:avLst/>
          </a:prstGeom>
          <a:noFill/>
        </p:spPr>
        <p:txBody>
          <a:bodyPr wrap="square" rtlCol="0" anchor="ctr"/>
          <a:lstStyle/>
          <a:p>
            <a:pPr marL="0" indent="0" algn="r">
              <a:buNone/>
            </a:pPr>
            <a:r>
              <a:rPr lang="en-US" sz="1000" b="1" dirty="0">
                <a:solidFill>
                  <a:srgbClr val="C46467"/>
                </a:solidFill>
                <a:latin typeface="Avenir Next" panose="020B0803020202020204" pitchFamily="34" charset="0"/>
                <a:ea typeface="Avenir Next" panose="020B0803020202020204" pitchFamily="34" charset="-122"/>
                <a:cs typeface="Avenir Next" panose="020B0803020202020204" pitchFamily="34" charset="-120"/>
              </a:rPr>
              <a:t>05</a:t>
            </a:r>
            <a:endParaRPr lang="en-US" sz="1000" dirty="0"/>
          </a:p>
        </p:txBody>
      </p:sp>
      <p:sp>
        <p:nvSpPr>
          <p:cNvPr id="8" name="Text 6"/>
          <p:cNvSpPr/>
          <p:nvPr/>
        </p:nvSpPr>
        <p:spPr>
          <a:xfrm>
            <a:off x="822960" y="868680"/>
            <a:ext cx="9966960" cy="621792"/>
          </a:xfrm>
          <a:prstGeom prst="rect">
            <a:avLst/>
          </a:prstGeom>
          <a:noFill/>
        </p:spPr>
        <p:txBody>
          <a:bodyPr wrap="square" lIns="0" tIns="0" rIns="0" bIns="0" rtlCol="0" anchor="ctr"/>
          <a:lstStyle/>
          <a:p>
            <a:pPr marL="0" indent="0">
              <a:buNone/>
            </a:pPr>
            <a:r>
              <a:rPr lang="en-US" sz="2200" b="1" dirty="0">
                <a:solidFill>
                  <a:srgbClr val="5B4338"/>
                </a:solidFill>
                <a:latin typeface="Songti SC" panose="02010800040101010101" pitchFamily="34" charset="-122"/>
                <a:ea typeface="Songti SC" panose="02010800040101010101" pitchFamily="34" charset="-122"/>
                <a:cs typeface="Songti SC" panose="02010800040101010101" pitchFamily="34" charset="-120"/>
              </a:rPr>
              <a:t>这件产品对用户最直接的价值，是让旅行从“拍过”变成“留下过”</a:t>
            </a:r>
            <a:endParaRPr lang="en-US" sz="2200" dirty="0"/>
          </a:p>
        </p:txBody>
      </p:sp>
      <p:sp>
        <p:nvSpPr>
          <p:cNvPr id="9" name="Text 7"/>
          <p:cNvSpPr/>
          <p:nvPr/>
        </p:nvSpPr>
        <p:spPr>
          <a:xfrm>
            <a:off x="822960" y="1527048"/>
            <a:ext cx="7498080" cy="420624"/>
          </a:xfrm>
          <a:prstGeom prst="rect">
            <a:avLst/>
          </a:prstGeom>
          <a:noFill/>
        </p:spPr>
        <p:txBody>
          <a:bodyPr wrap="square" lIns="0" tIns="0" rIns="0" bIns="0" rtlCol="0" anchor="ctr"/>
          <a:lstStyle/>
          <a:p>
            <a:pPr marL="0" indent="0">
              <a:buNone/>
            </a:pPr>
            <a:r>
              <a:rPr lang="en-US" sz="1050" dirty="0">
                <a:solidFill>
                  <a:srgbClr val="866F63"/>
                </a:solidFill>
                <a:latin typeface="Hiragino Sans GB" panose="020B0300000000000000" pitchFamily="34" charset="-122"/>
                <a:ea typeface="Hiragino Sans GB" panose="020B0300000000000000" pitchFamily="34" charset="-122"/>
                <a:cs typeface="Hiragino Sans GB" panose="020B0300000000000000" pitchFamily="34" charset="-120"/>
              </a:rPr>
              <a:t>它不只解决好不好看，而是解决记忆能不能被保存、整理和再次分享。</a:t>
            </a:r>
            <a:endParaRPr lang="en-US" sz="1050" dirty="0"/>
          </a:p>
        </p:txBody>
      </p:sp>
      <p:sp>
        <p:nvSpPr>
          <p:cNvPr id="10" name="Shape 8"/>
          <p:cNvSpPr/>
          <p:nvPr/>
        </p:nvSpPr>
        <p:spPr>
          <a:xfrm>
            <a:off x="1197610" y="1938655"/>
            <a:ext cx="2761615" cy="3889375"/>
          </a:xfrm>
          <a:prstGeom prst="roundRect">
            <a:avLst>
              <a:gd name="adj" fmla="val 3974"/>
            </a:avLst>
          </a:prstGeom>
          <a:solidFill>
            <a:srgbClr val="F0D7D2"/>
          </a:solidFill>
          <a:ln w="12700">
            <a:solidFill>
              <a:srgbClr val="E9DBD0"/>
            </a:solidFill>
            <a:prstDash val="solid"/>
          </a:ln>
        </p:spPr>
      </p:sp>
      <p:sp>
        <p:nvSpPr>
          <p:cNvPr id="11" name="Text 9"/>
          <p:cNvSpPr/>
          <p:nvPr/>
        </p:nvSpPr>
        <p:spPr>
          <a:xfrm>
            <a:off x="1417066" y="2176272"/>
            <a:ext cx="457200" cy="182880"/>
          </a:xfrm>
          <a:prstGeom prst="rect">
            <a:avLst/>
          </a:prstGeom>
          <a:noFill/>
        </p:spPr>
        <p:txBody>
          <a:bodyPr wrap="square" lIns="0" tIns="0" rIns="0" bIns="0" rtlCol="0" anchor="ctr"/>
          <a:lstStyle/>
          <a:p>
            <a:pPr marL="0" indent="0">
              <a:buNone/>
            </a:pPr>
            <a:r>
              <a:rPr lang="en-US" sz="1500" b="1" dirty="0">
                <a:solidFill>
                  <a:srgbClr val="C46467"/>
                </a:solidFill>
                <a:latin typeface="Avenir Next" panose="020B0803020202020204" pitchFamily="34" charset="0"/>
                <a:ea typeface="Avenir Next" panose="020B0803020202020204" pitchFamily="34" charset="-122"/>
                <a:cs typeface="Avenir Next" panose="020B0803020202020204" pitchFamily="34" charset="-120"/>
              </a:rPr>
              <a:t>01</a:t>
            </a:r>
            <a:endParaRPr lang="en-US" sz="1500" dirty="0"/>
          </a:p>
        </p:txBody>
      </p:sp>
      <p:sp>
        <p:nvSpPr>
          <p:cNvPr id="12" name="Text 10"/>
          <p:cNvSpPr/>
          <p:nvPr/>
        </p:nvSpPr>
        <p:spPr>
          <a:xfrm>
            <a:off x="1417066" y="2364232"/>
            <a:ext cx="2194560" cy="411480"/>
          </a:xfrm>
          <a:prstGeom prst="rect">
            <a:avLst/>
          </a:prstGeom>
          <a:noFill/>
        </p:spPr>
        <p:txBody>
          <a:bodyPr wrap="square" lIns="0" tIns="0" rIns="0" bIns="0" rtlCol="0" anchor="ctr"/>
          <a:lstStyle/>
          <a:p>
            <a:pPr marL="0" indent="0">
              <a:buNone/>
            </a:pPr>
            <a:r>
              <a:rPr lang="en-US" sz="1500" b="1" dirty="0">
                <a:solidFill>
                  <a:srgbClr val="5B4338"/>
                </a:solidFill>
                <a:latin typeface="Hiragino Sans GB" panose="020B0300000000000000" pitchFamily="34" charset="-122"/>
                <a:ea typeface="Hiragino Sans GB" panose="020B0300000000000000" pitchFamily="34" charset="-122"/>
                <a:cs typeface="Hiragino Sans GB" panose="020B0300000000000000" pitchFamily="34" charset="-120"/>
              </a:rPr>
              <a:t>留住体验</a:t>
            </a:r>
            <a:endParaRPr lang="en-US" sz="1500" dirty="0"/>
          </a:p>
        </p:txBody>
      </p:sp>
      <p:sp>
        <p:nvSpPr>
          <p:cNvPr id="13" name="Text 11"/>
          <p:cNvSpPr/>
          <p:nvPr/>
        </p:nvSpPr>
        <p:spPr>
          <a:xfrm>
            <a:off x="1417066" y="2526030"/>
            <a:ext cx="2267712" cy="1097280"/>
          </a:xfrm>
          <a:prstGeom prst="rect">
            <a:avLst/>
          </a:prstGeom>
          <a:noFill/>
        </p:spPr>
        <p:txBody>
          <a:bodyPr wrap="square" lIns="0" tIns="0" rIns="0" bIns="0" rtlCol="0" anchor="ctr"/>
          <a:lstStyle/>
          <a:p>
            <a:pPr marL="0" indent="0">
              <a:buNone/>
            </a:pPr>
            <a:r>
              <a:rPr lang="en-US" sz="1100" dirty="0">
                <a:solidFill>
                  <a:srgbClr val="866F63"/>
                </a:solidFill>
                <a:latin typeface="Hiragino Sans GB" panose="020B0300000000000000" pitchFamily="34" charset="-122"/>
                <a:ea typeface="Hiragino Sans GB" panose="020B0300000000000000" pitchFamily="34" charset="-122"/>
                <a:cs typeface="Hiragino Sans GB" panose="020B0300000000000000" pitchFamily="34" charset="-120"/>
              </a:rPr>
              <a:t>把照片、地点、日期和一句话放在一起，回看时更容易想起当时的心情、现场感和旅程脉络。</a:t>
            </a:r>
            <a:endParaRPr lang="en-US" sz="1100" dirty="0"/>
          </a:p>
        </p:txBody>
      </p:sp>
      <p:sp>
        <p:nvSpPr>
          <p:cNvPr id="14" name="Shape 12"/>
          <p:cNvSpPr/>
          <p:nvPr/>
        </p:nvSpPr>
        <p:spPr>
          <a:xfrm>
            <a:off x="4398010" y="1938655"/>
            <a:ext cx="2761615" cy="3893185"/>
          </a:xfrm>
          <a:prstGeom prst="roundRect">
            <a:avLst>
              <a:gd name="adj" fmla="val 3974"/>
            </a:avLst>
          </a:prstGeom>
          <a:solidFill>
            <a:srgbClr val="FBF5EF"/>
          </a:solidFill>
          <a:ln w="12700">
            <a:solidFill>
              <a:srgbClr val="E9DBD0"/>
            </a:solidFill>
            <a:prstDash val="solid"/>
          </a:ln>
        </p:spPr>
      </p:sp>
      <p:sp>
        <p:nvSpPr>
          <p:cNvPr id="15" name="Text 13"/>
          <p:cNvSpPr/>
          <p:nvPr/>
        </p:nvSpPr>
        <p:spPr>
          <a:xfrm>
            <a:off x="4617466" y="2176272"/>
            <a:ext cx="457200" cy="182880"/>
          </a:xfrm>
          <a:prstGeom prst="rect">
            <a:avLst/>
          </a:prstGeom>
          <a:noFill/>
        </p:spPr>
        <p:txBody>
          <a:bodyPr wrap="square" lIns="0" tIns="0" rIns="0" bIns="0" rtlCol="0" anchor="ctr"/>
          <a:lstStyle/>
          <a:p>
            <a:pPr marL="0" indent="0">
              <a:buNone/>
            </a:pPr>
            <a:r>
              <a:rPr lang="en-US" sz="1500" b="1" dirty="0">
                <a:solidFill>
                  <a:srgbClr val="C46467"/>
                </a:solidFill>
                <a:latin typeface="Avenir Next" panose="020B0803020202020204" pitchFamily="34" charset="0"/>
                <a:ea typeface="Avenir Next" panose="020B0803020202020204" pitchFamily="34" charset="-122"/>
                <a:cs typeface="Avenir Next" panose="020B0803020202020204" pitchFamily="34" charset="-120"/>
              </a:rPr>
              <a:t>02</a:t>
            </a:r>
            <a:endParaRPr lang="en-US" sz="1500" dirty="0"/>
          </a:p>
        </p:txBody>
      </p:sp>
      <p:sp>
        <p:nvSpPr>
          <p:cNvPr id="16" name="Text 14"/>
          <p:cNvSpPr/>
          <p:nvPr/>
        </p:nvSpPr>
        <p:spPr>
          <a:xfrm>
            <a:off x="4617466" y="2364232"/>
            <a:ext cx="2194560" cy="411480"/>
          </a:xfrm>
          <a:prstGeom prst="rect">
            <a:avLst/>
          </a:prstGeom>
          <a:noFill/>
        </p:spPr>
        <p:txBody>
          <a:bodyPr wrap="square" lIns="0" tIns="0" rIns="0" bIns="0" rtlCol="0" anchor="ctr"/>
          <a:lstStyle/>
          <a:p>
            <a:pPr marL="0" indent="0">
              <a:buNone/>
            </a:pPr>
            <a:r>
              <a:rPr lang="en-US" sz="1500" b="1" dirty="0">
                <a:solidFill>
                  <a:srgbClr val="5B4338"/>
                </a:solidFill>
                <a:latin typeface="Hiragino Sans GB" panose="020B0300000000000000" pitchFamily="34" charset="-122"/>
                <a:ea typeface="Hiragino Sans GB" panose="020B0300000000000000" pitchFamily="34" charset="-122"/>
                <a:cs typeface="Hiragino Sans GB" panose="020B0300000000000000" pitchFamily="34" charset="-120"/>
              </a:rPr>
              <a:t>降低表达门槛</a:t>
            </a:r>
            <a:endParaRPr lang="en-US" sz="1500" dirty="0"/>
          </a:p>
        </p:txBody>
      </p:sp>
      <p:sp>
        <p:nvSpPr>
          <p:cNvPr id="17" name="Text 15"/>
          <p:cNvSpPr/>
          <p:nvPr/>
        </p:nvSpPr>
        <p:spPr>
          <a:xfrm>
            <a:off x="4617466" y="2526030"/>
            <a:ext cx="2267712" cy="1097280"/>
          </a:xfrm>
          <a:prstGeom prst="rect">
            <a:avLst/>
          </a:prstGeom>
          <a:noFill/>
        </p:spPr>
        <p:txBody>
          <a:bodyPr wrap="square" lIns="0" tIns="0" rIns="0" bIns="0" rtlCol="0" anchor="ctr"/>
          <a:lstStyle/>
          <a:p>
            <a:pPr marL="0" indent="0">
              <a:buNone/>
            </a:pPr>
            <a:r>
              <a:rPr lang="en-US" sz="1100" dirty="0">
                <a:solidFill>
                  <a:srgbClr val="866F63"/>
                </a:solidFill>
                <a:latin typeface="Hiragino Sans GB" panose="020B0300000000000000" pitchFamily="34" charset="-122"/>
                <a:ea typeface="Hiragino Sans GB" panose="020B0300000000000000" pitchFamily="34" charset="-122"/>
                <a:cs typeface="Hiragino Sans GB" panose="020B0300000000000000" pitchFamily="34" charset="-120"/>
              </a:rPr>
              <a:t>不需要会设计，也能把普通照片整理成一页更有风格、更像作品的旅行手帐内容。</a:t>
            </a:r>
            <a:endParaRPr lang="en-US" sz="1100" dirty="0"/>
          </a:p>
        </p:txBody>
      </p:sp>
      <p:sp>
        <p:nvSpPr>
          <p:cNvPr id="18" name="Shape 16"/>
          <p:cNvSpPr/>
          <p:nvPr/>
        </p:nvSpPr>
        <p:spPr>
          <a:xfrm>
            <a:off x="7598410" y="1938655"/>
            <a:ext cx="2761615" cy="3889375"/>
          </a:xfrm>
          <a:prstGeom prst="roundRect">
            <a:avLst>
              <a:gd name="adj" fmla="val 3974"/>
            </a:avLst>
          </a:prstGeom>
          <a:solidFill>
            <a:srgbClr val="F4F0EA"/>
          </a:solidFill>
          <a:ln w="12700">
            <a:solidFill>
              <a:srgbClr val="E9DBD0"/>
            </a:solidFill>
            <a:prstDash val="solid"/>
          </a:ln>
        </p:spPr>
      </p:sp>
      <p:sp>
        <p:nvSpPr>
          <p:cNvPr id="19" name="Text 17"/>
          <p:cNvSpPr/>
          <p:nvPr/>
        </p:nvSpPr>
        <p:spPr>
          <a:xfrm>
            <a:off x="7817866" y="2176272"/>
            <a:ext cx="457200" cy="182880"/>
          </a:xfrm>
          <a:prstGeom prst="rect">
            <a:avLst/>
          </a:prstGeom>
          <a:noFill/>
        </p:spPr>
        <p:txBody>
          <a:bodyPr wrap="square" lIns="0" tIns="0" rIns="0" bIns="0" rtlCol="0" anchor="ctr"/>
          <a:lstStyle/>
          <a:p>
            <a:pPr marL="0" indent="0">
              <a:buNone/>
            </a:pPr>
            <a:r>
              <a:rPr lang="en-US" sz="1500" b="1" dirty="0">
                <a:solidFill>
                  <a:srgbClr val="C46467"/>
                </a:solidFill>
                <a:latin typeface="Avenir Next" panose="020B0803020202020204" pitchFamily="34" charset="0"/>
                <a:ea typeface="Avenir Next" panose="020B0803020202020204" pitchFamily="34" charset="-122"/>
                <a:cs typeface="Avenir Next" panose="020B0803020202020204" pitchFamily="34" charset="-120"/>
              </a:rPr>
              <a:t>03</a:t>
            </a:r>
            <a:endParaRPr lang="en-US" sz="1500" dirty="0"/>
          </a:p>
        </p:txBody>
      </p:sp>
      <p:sp>
        <p:nvSpPr>
          <p:cNvPr id="20" name="Text 18"/>
          <p:cNvSpPr/>
          <p:nvPr/>
        </p:nvSpPr>
        <p:spPr>
          <a:xfrm>
            <a:off x="7817866" y="2364232"/>
            <a:ext cx="2194560" cy="411480"/>
          </a:xfrm>
          <a:prstGeom prst="rect">
            <a:avLst/>
          </a:prstGeom>
          <a:noFill/>
        </p:spPr>
        <p:txBody>
          <a:bodyPr wrap="square" lIns="0" tIns="0" rIns="0" bIns="0" rtlCol="0" anchor="ctr"/>
          <a:lstStyle/>
          <a:p>
            <a:pPr marL="0" indent="0">
              <a:buNone/>
            </a:pPr>
            <a:r>
              <a:rPr lang="en-US" sz="1500" b="1" dirty="0">
                <a:solidFill>
                  <a:srgbClr val="5B4338"/>
                </a:solidFill>
                <a:latin typeface="Hiragino Sans GB" panose="020B0300000000000000" pitchFamily="34" charset="-122"/>
                <a:ea typeface="Hiragino Sans GB" panose="020B0300000000000000" pitchFamily="34" charset="-122"/>
                <a:cs typeface="Hiragino Sans GB" panose="020B0300000000000000" pitchFamily="34" charset="-120"/>
              </a:rPr>
              <a:t>形成可回看的旅程</a:t>
            </a:r>
            <a:endParaRPr lang="en-US" sz="1500" dirty="0"/>
          </a:p>
        </p:txBody>
      </p:sp>
      <p:sp>
        <p:nvSpPr>
          <p:cNvPr id="21" name="Text 19"/>
          <p:cNvSpPr/>
          <p:nvPr/>
        </p:nvSpPr>
        <p:spPr>
          <a:xfrm>
            <a:off x="7817866" y="2526030"/>
            <a:ext cx="2267712" cy="1097280"/>
          </a:xfrm>
          <a:prstGeom prst="rect">
            <a:avLst/>
          </a:prstGeom>
          <a:noFill/>
        </p:spPr>
        <p:txBody>
          <a:bodyPr wrap="square" lIns="0" tIns="0" rIns="0" bIns="0" rtlCol="0" anchor="ctr"/>
          <a:lstStyle/>
          <a:p>
            <a:pPr marL="0" indent="0">
              <a:buNone/>
            </a:pPr>
            <a:r>
              <a:rPr lang="en-US" sz="1100" dirty="0">
                <a:solidFill>
                  <a:srgbClr val="866F63"/>
                </a:solidFill>
                <a:latin typeface="Hiragino Sans GB" panose="020B0300000000000000" pitchFamily="34" charset="-122"/>
                <a:ea typeface="Hiragino Sans GB" panose="020B0300000000000000" pitchFamily="34" charset="-122"/>
                <a:cs typeface="Hiragino Sans GB" panose="020B0300000000000000" pitchFamily="34" charset="-120"/>
              </a:rPr>
              <a:t>一次次生成的印迹会沉淀成集册和足迹地图，让旅行不是发完就结束，而是能持续回看。</a:t>
            </a:r>
            <a:endParaRPr lang="en-US" sz="1100" dirty="0"/>
          </a:p>
        </p:txBody>
      </p:sp>
      <p:pic>
        <p:nvPicPr>
          <p:cNvPr id="24" name="Image 0" descr="/Users/ronggang/Downloads/微信图片_20260328155316_1152_149.jpg微信图片_20260328155316_1152_149"/>
          <p:cNvPicPr>
            <a:picLocks noChangeAspect="1"/>
          </p:cNvPicPr>
          <p:nvPr/>
        </p:nvPicPr>
        <p:blipFill>
          <a:blip r:embed="rId1"/>
          <a:srcRect l="1603" t="10644" r="-1603" b="56583"/>
          <a:stretch>
            <a:fillRect/>
          </a:stretch>
        </p:blipFill>
        <p:spPr>
          <a:xfrm>
            <a:off x="1562100" y="3369945"/>
            <a:ext cx="1799590" cy="2111375"/>
          </a:xfrm>
          <a:prstGeom prst="rect">
            <a:avLst/>
          </a:prstGeom>
        </p:spPr>
      </p:pic>
      <p:sp>
        <p:nvSpPr>
          <p:cNvPr id="25" name="Text 22"/>
          <p:cNvSpPr/>
          <p:nvPr/>
        </p:nvSpPr>
        <p:spPr>
          <a:xfrm>
            <a:off x="1115568" y="5617718"/>
            <a:ext cx="2743200" cy="109728"/>
          </a:xfrm>
          <a:prstGeom prst="rect">
            <a:avLst/>
          </a:prstGeom>
          <a:noFill/>
        </p:spPr>
        <p:txBody>
          <a:bodyPr wrap="square" lIns="0" tIns="0" rIns="0" bIns="0" rtlCol="0" anchor="ctr"/>
          <a:lstStyle/>
          <a:p>
            <a:pPr marL="0" indent="0" algn="ctr">
              <a:buNone/>
            </a:pPr>
            <a:r>
              <a:rPr lang="en-US" sz="880" b="1" dirty="0">
                <a:solidFill>
                  <a:srgbClr val="866F63"/>
                </a:solidFill>
                <a:latin typeface="Hiragino Sans GB" panose="020B0300000000000000" pitchFamily="34" charset="-122"/>
                <a:ea typeface="Hiragino Sans GB" panose="020B0300000000000000" pitchFamily="34" charset="-122"/>
                <a:cs typeface="Hiragino Sans GB" panose="020B0300000000000000" pitchFamily="34" charset="-120"/>
              </a:rPr>
              <a:t>成页预览</a:t>
            </a:r>
            <a:endParaRPr lang="en-US" sz="880" dirty="0"/>
          </a:p>
        </p:txBody>
      </p:sp>
      <p:pic>
        <p:nvPicPr>
          <p:cNvPr id="27" name="Image 1" descr="/Users/ronggang/code/funcode/yingji/home-final-check.png"/>
          <p:cNvPicPr>
            <a:picLocks noChangeAspect="1"/>
          </p:cNvPicPr>
          <p:nvPr/>
        </p:nvPicPr>
        <p:blipFill>
          <a:blip r:embed="rId2"/>
          <a:srcRect b="51737"/>
          <a:stretch>
            <a:fillRect/>
          </a:stretch>
        </p:blipFill>
        <p:spPr>
          <a:xfrm>
            <a:off x="4782185" y="3423920"/>
            <a:ext cx="1946275" cy="2110740"/>
          </a:xfrm>
          <a:prstGeom prst="rect">
            <a:avLst/>
          </a:prstGeom>
        </p:spPr>
      </p:pic>
      <p:sp>
        <p:nvSpPr>
          <p:cNvPr id="28" name="Text 24"/>
          <p:cNvSpPr/>
          <p:nvPr/>
        </p:nvSpPr>
        <p:spPr>
          <a:xfrm>
            <a:off x="4270248" y="5617718"/>
            <a:ext cx="2743200" cy="109728"/>
          </a:xfrm>
          <a:prstGeom prst="rect">
            <a:avLst/>
          </a:prstGeom>
          <a:noFill/>
        </p:spPr>
        <p:txBody>
          <a:bodyPr wrap="square" lIns="0" tIns="0" rIns="0" bIns="0" rtlCol="0" anchor="ctr"/>
          <a:lstStyle/>
          <a:p>
            <a:pPr marL="0" indent="0" algn="ctr">
              <a:buNone/>
            </a:pPr>
            <a:r>
              <a:rPr lang="en-US" sz="880" b="1" dirty="0">
                <a:solidFill>
                  <a:srgbClr val="866F63"/>
                </a:solidFill>
                <a:latin typeface="Hiragino Sans GB" panose="020B0300000000000000" pitchFamily="34" charset="-122"/>
                <a:ea typeface="Hiragino Sans GB" panose="020B0300000000000000" pitchFamily="34" charset="-122"/>
                <a:cs typeface="Hiragino Sans GB" panose="020B0300000000000000" pitchFamily="34" charset="-120"/>
              </a:rPr>
              <a:t>保存后的印迹列表</a:t>
            </a:r>
            <a:endParaRPr lang="en-US" sz="880" dirty="0"/>
          </a:p>
        </p:txBody>
      </p:sp>
      <p:pic>
        <p:nvPicPr>
          <p:cNvPr id="30" name="Image 2" descr="/Users/ronggang/code/funcode/yingji/notebook-shelf-redesigned.png"/>
          <p:cNvPicPr>
            <a:picLocks noChangeAspect="1"/>
          </p:cNvPicPr>
          <p:nvPr/>
        </p:nvPicPr>
        <p:blipFill>
          <a:blip r:embed="rId3"/>
          <a:srcRect t="7617" b="41484"/>
          <a:stretch>
            <a:fillRect/>
          </a:stretch>
        </p:blipFill>
        <p:spPr>
          <a:xfrm>
            <a:off x="8008620" y="3456940"/>
            <a:ext cx="2004060" cy="2085340"/>
          </a:xfrm>
          <a:prstGeom prst="rect">
            <a:avLst/>
          </a:prstGeom>
        </p:spPr>
      </p:pic>
      <p:sp>
        <p:nvSpPr>
          <p:cNvPr id="31" name="Text 26"/>
          <p:cNvSpPr/>
          <p:nvPr/>
        </p:nvSpPr>
        <p:spPr>
          <a:xfrm>
            <a:off x="7424928" y="5617718"/>
            <a:ext cx="2743200" cy="109728"/>
          </a:xfrm>
          <a:prstGeom prst="rect">
            <a:avLst/>
          </a:prstGeom>
          <a:noFill/>
        </p:spPr>
        <p:txBody>
          <a:bodyPr wrap="square" lIns="0" tIns="0" rIns="0" bIns="0" rtlCol="0" anchor="ctr"/>
          <a:lstStyle/>
          <a:p>
            <a:pPr marL="0" indent="0" algn="ctr">
              <a:buNone/>
            </a:pPr>
            <a:r>
              <a:rPr lang="en-US" sz="880" b="1" dirty="0">
                <a:solidFill>
                  <a:srgbClr val="866F63"/>
                </a:solidFill>
                <a:latin typeface="Hiragino Sans GB" panose="020B0300000000000000" pitchFamily="34" charset="-122"/>
                <a:ea typeface="Hiragino Sans GB" panose="020B0300000000000000" pitchFamily="34" charset="-122"/>
                <a:cs typeface="Hiragino Sans GB" panose="020B0300000000000000" pitchFamily="34" charset="-120"/>
              </a:rPr>
              <a:t>沉淀成可回看的集册</a:t>
            </a:r>
            <a:endParaRPr lang="en-US" sz="880" dirty="0"/>
          </a:p>
        </p:txBody>
      </p:sp>
      <p:sp>
        <p:nvSpPr>
          <p:cNvPr id="32" name="Shape 27"/>
          <p:cNvSpPr/>
          <p:nvPr/>
        </p:nvSpPr>
        <p:spPr>
          <a:xfrm>
            <a:off x="868680" y="6163056"/>
            <a:ext cx="10451592" cy="457200"/>
          </a:xfrm>
          <a:prstGeom prst="roundRect">
            <a:avLst>
              <a:gd name="adj" fmla="val 24000"/>
            </a:avLst>
          </a:prstGeom>
          <a:solidFill>
            <a:srgbClr val="F0D7D2"/>
          </a:solidFill>
          <a:ln w="12700">
            <a:solidFill>
              <a:srgbClr val="E9DBD0"/>
            </a:solidFill>
            <a:prstDash val="solid"/>
          </a:ln>
        </p:spPr>
      </p:sp>
      <p:sp>
        <p:nvSpPr>
          <p:cNvPr id="33" name="Text 28"/>
          <p:cNvSpPr/>
          <p:nvPr/>
        </p:nvSpPr>
        <p:spPr>
          <a:xfrm>
            <a:off x="1207008" y="6300216"/>
            <a:ext cx="9738360" cy="128016"/>
          </a:xfrm>
          <a:prstGeom prst="rect">
            <a:avLst/>
          </a:prstGeom>
          <a:noFill/>
        </p:spPr>
        <p:txBody>
          <a:bodyPr wrap="square" lIns="0" tIns="0" rIns="0" bIns="0" rtlCol="0" anchor="ctr"/>
          <a:lstStyle/>
          <a:p>
            <a:pPr marL="0" indent="0" algn="ctr">
              <a:buNone/>
            </a:pPr>
            <a:r>
              <a:rPr lang="en-US" sz="1200" b="1" dirty="0">
                <a:solidFill>
                  <a:srgbClr val="88504C"/>
                </a:solidFill>
                <a:latin typeface="Hiragino Sans GB" panose="020B0300000000000000" pitchFamily="34" charset="-122"/>
                <a:ea typeface="Hiragino Sans GB" panose="020B0300000000000000" pitchFamily="34" charset="-122"/>
                <a:cs typeface="Hiragino Sans GB" panose="020B0300000000000000" pitchFamily="34" charset="-120"/>
              </a:rPr>
              <a:t>用户得到的不只是 1 张图，而是一种更完整的旅行回忆方式。</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0E8"/>
          </a:solidFill>
          <a:ln w="12700">
            <a:solidFill>
              <a:srgbClr val="F7F0E8">
                <a:alpha val="0"/>
              </a:srgbClr>
            </a:solidFill>
            <a:prstDash val="solid"/>
          </a:ln>
        </p:spPr>
      </p:sp>
      <p:sp>
        <p:nvSpPr>
          <p:cNvPr id="3" name="Shape 1"/>
          <p:cNvSpPr/>
          <p:nvPr/>
        </p:nvSpPr>
        <p:spPr>
          <a:xfrm>
            <a:off x="9784080" y="-822960"/>
            <a:ext cx="3474720" cy="2468880"/>
          </a:xfrm>
          <a:prstGeom prst="ellipse">
            <a:avLst/>
          </a:prstGeom>
          <a:solidFill>
            <a:srgbClr val="F0D7D2">
              <a:alpha val="42000"/>
            </a:srgbClr>
          </a:solidFill>
          <a:ln w="12700">
            <a:solidFill>
              <a:srgbClr val="F7F0E8">
                <a:alpha val="0"/>
              </a:srgbClr>
            </a:solidFill>
            <a:prstDash val="solid"/>
          </a:ln>
        </p:spPr>
      </p:sp>
      <p:sp>
        <p:nvSpPr>
          <p:cNvPr id="4" name="Shape 2"/>
          <p:cNvSpPr/>
          <p:nvPr/>
        </p:nvSpPr>
        <p:spPr>
          <a:xfrm>
            <a:off x="-731520" y="5577840"/>
            <a:ext cx="2743200" cy="1920240"/>
          </a:xfrm>
          <a:prstGeom prst="ellipse">
            <a:avLst/>
          </a:prstGeom>
          <a:solidFill>
            <a:srgbClr val="E9C8C0">
              <a:alpha val="28000"/>
            </a:srgbClr>
          </a:solidFill>
          <a:ln w="12700">
            <a:solidFill>
              <a:srgbClr val="F7F0E8">
                <a:alpha val="0"/>
              </a:srgbClr>
            </a:solidFill>
            <a:prstDash val="solid"/>
          </a:ln>
        </p:spPr>
      </p:sp>
      <p:sp>
        <p:nvSpPr>
          <p:cNvPr id="5" name="Shape 3"/>
          <p:cNvSpPr/>
          <p:nvPr/>
        </p:nvSpPr>
        <p:spPr>
          <a:xfrm>
            <a:off x="713232" y="612648"/>
            <a:ext cx="310896" cy="0"/>
          </a:xfrm>
          <a:prstGeom prst="line">
            <a:avLst/>
          </a:prstGeom>
          <a:noFill/>
          <a:ln w="12700">
            <a:solidFill>
              <a:srgbClr val="C46467"/>
            </a:solidFill>
            <a:prstDash val="solid"/>
          </a:ln>
        </p:spPr>
      </p:sp>
      <p:sp>
        <p:nvSpPr>
          <p:cNvPr id="6" name="Text 4"/>
          <p:cNvSpPr/>
          <p:nvPr/>
        </p:nvSpPr>
        <p:spPr>
          <a:xfrm>
            <a:off x="1069848" y="429768"/>
            <a:ext cx="4206240" cy="201168"/>
          </a:xfrm>
          <a:prstGeom prst="rect">
            <a:avLst/>
          </a:prstGeom>
          <a:noFill/>
        </p:spPr>
        <p:txBody>
          <a:bodyPr wrap="square" rtlCol="0" anchor="ctr"/>
          <a:lstStyle/>
          <a:p>
            <a:pPr marL="0" indent="0">
              <a:buNone/>
            </a:pPr>
            <a:r>
              <a:rPr lang="en-US" sz="900" b="1" dirty="0">
                <a:solidFill>
                  <a:srgbClr val="866F63"/>
                </a:solidFill>
                <a:latin typeface="Avenir Next" panose="020B0803020202020204" pitchFamily="34" charset="0"/>
                <a:ea typeface="Avenir Next" panose="020B0803020202020204" pitchFamily="34" charset="-122"/>
                <a:cs typeface="Avenir Next" panose="020B0803020202020204" pitchFamily="34" charset="-120"/>
              </a:rPr>
              <a:t>PUBLIC SIGNALS</a:t>
            </a:r>
            <a:endParaRPr lang="en-US" sz="900" dirty="0"/>
          </a:p>
        </p:txBody>
      </p:sp>
      <p:sp>
        <p:nvSpPr>
          <p:cNvPr id="7" name="Text 5"/>
          <p:cNvSpPr/>
          <p:nvPr/>
        </p:nvSpPr>
        <p:spPr>
          <a:xfrm>
            <a:off x="11155680" y="384048"/>
            <a:ext cx="329184" cy="219456"/>
          </a:xfrm>
          <a:prstGeom prst="rect">
            <a:avLst/>
          </a:prstGeom>
          <a:noFill/>
        </p:spPr>
        <p:txBody>
          <a:bodyPr wrap="square" rtlCol="0" anchor="ctr"/>
          <a:lstStyle/>
          <a:p>
            <a:pPr marL="0" indent="0" algn="r">
              <a:buNone/>
            </a:pPr>
            <a:r>
              <a:rPr lang="en-US" sz="1000" b="1" dirty="0">
                <a:solidFill>
                  <a:srgbClr val="C46467"/>
                </a:solidFill>
                <a:latin typeface="Avenir Next" panose="020B0803020202020204" pitchFamily="34" charset="0"/>
                <a:ea typeface="Avenir Next" panose="020B0803020202020204" pitchFamily="34" charset="-122"/>
                <a:cs typeface="Avenir Next" panose="020B0803020202020204" pitchFamily="34" charset="-120"/>
              </a:rPr>
              <a:t>06</a:t>
            </a:r>
            <a:endParaRPr lang="en-US" sz="1000" dirty="0"/>
          </a:p>
        </p:txBody>
      </p:sp>
      <p:sp>
        <p:nvSpPr>
          <p:cNvPr id="8" name="Text 6"/>
          <p:cNvSpPr/>
          <p:nvPr/>
        </p:nvSpPr>
        <p:spPr>
          <a:xfrm>
            <a:off x="822960" y="868680"/>
            <a:ext cx="9829800" cy="621792"/>
          </a:xfrm>
          <a:prstGeom prst="rect">
            <a:avLst/>
          </a:prstGeom>
          <a:noFill/>
        </p:spPr>
        <p:txBody>
          <a:bodyPr wrap="square" lIns="0" tIns="0" rIns="0" bIns="0" rtlCol="0" anchor="ctr"/>
          <a:lstStyle/>
          <a:p>
            <a:pPr marL="0" indent="0">
              <a:buNone/>
            </a:pPr>
            <a:r>
              <a:rPr lang="en-US" sz="2200" b="1" dirty="0">
                <a:solidFill>
                  <a:srgbClr val="5B4338"/>
                </a:solidFill>
                <a:latin typeface="Songti SC" panose="02010800040101010101" pitchFamily="34" charset="-122"/>
                <a:ea typeface="Songti SC" panose="02010800040101010101" pitchFamily="34" charset="-122"/>
                <a:cs typeface="Songti SC" panose="02010800040101010101" pitchFamily="34" charset="-120"/>
              </a:rPr>
              <a:t>公开资料里的几个观察，与印迹想解决的问题是对得上的</a:t>
            </a:r>
            <a:endParaRPr lang="en-US" sz="2200" dirty="0"/>
          </a:p>
        </p:txBody>
      </p:sp>
      <p:sp>
        <p:nvSpPr>
          <p:cNvPr id="9" name="Text 7"/>
          <p:cNvSpPr/>
          <p:nvPr/>
        </p:nvSpPr>
        <p:spPr>
          <a:xfrm>
            <a:off x="822960" y="1527048"/>
            <a:ext cx="7498080" cy="420624"/>
          </a:xfrm>
          <a:prstGeom prst="rect">
            <a:avLst/>
          </a:prstGeom>
          <a:noFill/>
        </p:spPr>
        <p:txBody>
          <a:bodyPr wrap="square" lIns="0" tIns="0" rIns="0" bIns="0" rtlCol="0" anchor="ctr"/>
          <a:lstStyle/>
          <a:p>
            <a:pPr marL="0" indent="0">
              <a:buNone/>
            </a:pPr>
            <a:r>
              <a:rPr lang="en-US" sz="1050" dirty="0">
                <a:solidFill>
                  <a:srgbClr val="866F63"/>
                </a:solidFill>
                <a:latin typeface="Hiragino Sans GB" panose="020B0300000000000000" pitchFamily="34" charset="-122"/>
                <a:ea typeface="Hiragino Sans GB" panose="020B0300000000000000" pitchFamily="34" charset="-122"/>
                <a:cs typeface="Hiragino Sans GB" panose="020B0300000000000000" pitchFamily="34" charset="-120"/>
              </a:rPr>
              <a:t>这不是凭空想象出来的需求，而是已经存在于旅行行为里的三个信号。</a:t>
            </a:r>
            <a:endParaRPr lang="en-US" sz="1050" dirty="0"/>
          </a:p>
        </p:txBody>
      </p:sp>
      <p:sp>
        <p:nvSpPr>
          <p:cNvPr id="10" name="Shape 8"/>
          <p:cNvSpPr/>
          <p:nvPr/>
        </p:nvSpPr>
        <p:spPr>
          <a:xfrm>
            <a:off x="1322070" y="1938528"/>
            <a:ext cx="2761488" cy="3017520"/>
          </a:xfrm>
          <a:prstGeom prst="roundRect">
            <a:avLst>
              <a:gd name="adj" fmla="val 3974"/>
            </a:avLst>
          </a:prstGeom>
          <a:solidFill>
            <a:srgbClr val="F0D7D2"/>
          </a:solidFill>
          <a:ln w="12700">
            <a:solidFill>
              <a:srgbClr val="E9DBD0"/>
            </a:solidFill>
            <a:prstDash val="solid"/>
          </a:ln>
        </p:spPr>
      </p:sp>
      <p:sp>
        <p:nvSpPr>
          <p:cNvPr id="11" name="Text 9"/>
          <p:cNvSpPr/>
          <p:nvPr/>
        </p:nvSpPr>
        <p:spPr>
          <a:xfrm>
            <a:off x="1541526" y="2176272"/>
            <a:ext cx="2194560" cy="182880"/>
          </a:xfrm>
          <a:prstGeom prst="rect">
            <a:avLst/>
          </a:prstGeom>
          <a:noFill/>
        </p:spPr>
        <p:txBody>
          <a:bodyPr wrap="square" lIns="0" tIns="0" rIns="0" bIns="0" rtlCol="0" anchor="ctr"/>
          <a:lstStyle/>
          <a:p>
            <a:pPr marL="0" indent="0">
              <a:buNone/>
            </a:pPr>
            <a:r>
              <a:rPr lang="en-US" sz="880" b="1" dirty="0">
                <a:solidFill>
                  <a:srgbClr val="C46467"/>
                </a:solidFill>
                <a:latin typeface="Avenir Next" panose="020B0803020202020204" pitchFamily="34" charset="0"/>
                <a:ea typeface="Avenir Next" panose="020B0803020202020204" pitchFamily="34" charset="-122"/>
                <a:cs typeface="Avenir Next" panose="020B0803020202020204" pitchFamily="34" charset="-120"/>
              </a:rPr>
              <a:t>澎湃 / 2024.03.16</a:t>
            </a:r>
            <a:endParaRPr lang="en-US" sz="880" dirty="0"/>
          </a:p>
        </p:txBody>
      </p:sp>
      <p:sp>
        <p:nvSpPr>
          <p:cNvPr id="12" name="Text 10"/>
          <p:cNvSpPr/>
          <p:nvPr/>
        </p:nvSpPr>
        <p:spPr>
          <a:xfrm>
            <a:off x="1541780" y="2541905"/>
            <a:ext cx="2414270" cy="475615"/>
          </a:xfrm>
          <a:prstGeom prst="rect">
            <a:avLst/>
          </a:prstGeom>
          <a:noFill/>
        </p:spPr>
        <p:txBody>
          <a:bodyPr wrap="square" lIns="0" tIns="0" rIns="0" bIns="0" rtlCol="0" anchor="ctr"/>
          <a:lstStyle/>
          <a:p>
            <a:pPr marL="0" indent="0">
              <a:buNone/>
            </a:pPr>
            <a:r>
              <a:rPr lang="en-US" sz="1450" b="1" dirty="0">
                <a:solidFill>
                  <a:srgbClr val="5B4338"/>
                </a:solidFill>
                <a:latin typeface="Hiragino Sans GB" panose="020B0300000000000000" pitchFamily="34" charset="-122"/>
                <a:ea typeface="Hiragino Sans GB" panose="020B0300000000000000" pitchFamily="34" charset="-122"/>
                <a:cs typeface="Hiragino Sans GB" panose="020B0300000000000000" pitchFamily="34" charset="-120"/>
              </a:rPr>
              <a:t>集章已经成为新的旅行仪式</a:t>
            </a:r>
            <a:endParaRPr lang="en-US" sz="1450" dirty="0"/>
          </a:p>
        </p:txBody>
      </p:sp>
      <p:sp>
        <p:nvSpPr>
          <p:cNvPr id="13" name="Text 11"/>
          <p:cNvSpPr/>
          <p:nvPr/>
        </p:nvSpPr>
        <p:spPr>
          <a:xfrm>
            <a:off x="1541526" y="3246120"/>
            <a:ext cx="2267712" cy="1207008"/>
          </a:xfrm>
          <a:prstGeom prst="rect">
            <a:avLst/>
          </a:prstGeom>
          <a:noFill/>
        </p:spPr>
        <p:txBody>
          <a:bodyPr wrap="square" lIns="0" tIns="0" rIns="0" bIns="0" rtlCol="0" anchor="ctr"/>
          <a:lstStyle/>
          <a:p>
            <a:pPr marL="0" indent="0">
              <a:buNone/>
            </a:pPr>
            <a:r>
              <a:rPr lang="en-US" sz="1100" dirty="0">
                <a:solidFill>
                  <a:srgbClr val="866F63"/>
                </a:solidFill>
                <a:latin typeface="Hiragino Sans GB" panose="020B0300000000000000" pitchFamily="34" charset="-122"/>
                <a:ea typeface="Hiragino Sans GB" panose="020B0300000000000000" pitchFamily="34" charset="-122"/>
                <a:cs typeface="Hiragino Sans GB" panose="020B0300000000000000" pitchFamily="34" charset="-120"/>
              </a:rPr>
              <a:t>公开报道把集章描述成更完整、更有参与感的保留方式。它不只是打卡，还会让人更沉浸式地去了解城市。</a:t>
            </a:r>
            <a:endParaRPr lang="en-US" sz="1100" dirty="0"/>
          </a:p>
        </p:txBody>
      </p:sp>
      <p:sp>
        <p:nvSpPr>
          <p:cNvPr id="14" name="Shape 12"/>
          <p:cNvSpPr/>
          <p:nvPr/>
        </p:nvSpPr>
        <p:spPr>
          <a:xfrm>
            <a:off x="4522470" y="1938528"/>
            <a:ext cx="2761488" cy="3017520"/>
          </a:xfrm>
          <a:prstGeom prst="roundRect">
            <a:avLst>
              <a:gd name="adj" fmla="val 3974"/>
            </a:avLst>
          </a:prstGeom>
          <a:solidFill>
            <a:srgbClr val="F2ECE5"/>
          </a:solidFill>
          <a:ln w="12700">
            <a:solidFill>
              <a:srgbClr val="E9DBD0"/>
            </a:solidFill>
            <a:prstDash val="solid"/>
          </a:ln>
        </p:spPr>
      </p:sp>
      <p:sp>
        <p:nvSpPr>
          <p:cNvPr id="15" name="Text 13"/>
          <p:cNvSpPr/>
          <p:nvPr/>
        </p:nvSpPr>
        <p:spPr>
          <a:xfrm>
            <a:off x="4741926" y="2176272"/>
            <a:ext cx="2194560" cy="182880"/>
          </a:xfrm>
          <a:prstGeom prst="rect">
            <a:avLst/>
          </a:prstGeom>
          <a:noFill/>
        </p:spPr>
        <p:txBody>
          <a:bodyPr wrap="square" lIns="0" tIns="0" rIns="0" bIns="0" rtlCol="0" anchor="ctr"/>
          <a:lstStyle/>
          <a:p>
            <a:pPr marL="0" indent="0">
              <a:buNone/>
            </a:pPr>
            <a:r>
              <a:rPr lang="en-US" sz="880" b="1" dirty="0">
                <a:solidFill>
                  <a:srgbClr val="C46467"/>
                </a:solidFill>
                <a:latin typeface="Avenir Next" panose="020B0803020202020204" pitchFamily="34" charset="0"/>
                <a:ea typeface="Avenir Next" panose="020B0803020202020204" pitchFamily="34" charset="-122"/>
                <a:cs typeface="Avenir Next" panose="020B0803020202020204" pitchFamily="34" charset="-120"/>
              </a:rPr>
              <a:t>National Geographic / 2022.08.08</a:t>
            </a:r>
            <a:endParaRPr lang="en-US" sz="880" dirty="0"/>
          </a:p>
        </p:txBody>
      </p:sp>
      <p:sp>
        <p:nvSpPr>
          <p:cNvPr id="16" name="Text 14"/>
          <p:cNvSpPr/>
          <p:nvPr/>
        </p:nvSpPr>
        <p:spPr>
          <a:xfrm>
            <a:off x="4741926" y="2542032"/>
            <a:ext cx="2194560" cy="475488"/>
          </a:xfrm>
          <a:prstGeom prst="rect">
            <a:avLst/>
          </a:prstGeom>
          <a:noFill/>
        </p:spPr>
        <p:txBody>
          <a:bodyPr wrap="square" lIns="0" tIns="0" rIns="0" bIns="0" rtlCol="0" anchor="ctr"/>
          <a:lstStyle/>
          <a:p>
            <a:pPr marL="0" indent="0">
              <a:buNone/>
            </a:pPr>
            <a:r>
              <a:rPr lang="en-US" sz="1450" b="1" dirty="0">
                <a:solidFill>
                  <a:srgbClr val="5B4338"/>
                </a:solidFill>
                <a:latin typeface="Hiragino Sans GB" panose="020B0300000000000000" pitchFamily="34" charset="-122"/>
                <a:ea typeface="Hiragino Sans GB" panose="020B0300000000000000" pitchFamily="34" charset="-122"/>
                <a:cs typeface="Hiragino Sans GB" panose="020B0300000000000000" pitchFamily="34" charset="-120"/>
              </a:rPr>
              <a:t>记录能保留更真实的旅行感受</a:t>
            </a:r>
            <a:endParaRPr lang="en-US" sz="1450" dirty="0"/>
          </a:p>
        </p:txBody>
      </p:sp>
      <p:sp>
        <p:nvSpPr>
          <p:cNvPr id="17" name="Text 15"/>
          <p:cNvSpPr/>
          <p:nvPr/>
        </p:nvSpPr>
        <p:spPr>
          <a:xfrm>
            <a:off x="4741926" y="3246120"/>
            <a:ext cx="2267712" cy="1207008"/>
          </a:xfrm>
          <a:prstGeom prst="rect">
            <a:avLst/>
          </a:prstGeom>
          <a:noFill/>
        </p:spPr>
        <p:txBody>
          <a:bodyPr wrap="square" lIns="0" tIns="0" rIns="0" bIns="0" rtlCol="0" anchor="ctr"/>
          <a:lstStyle/>
          <a:p>
            <a:pPr marL="0" indent="0">
              <a:buNone/>
            </a:pPr>
            <a:r>
              <a:rPr lang="en-US" sz="1100" dirty="0">
                <a:solidFill>
                  <a:srgbClr val="866F63"/>
                </a:solidFill>
                <a:latin typeface="Hiragino Sans GB" panose="020B0300000000000000" pitchFamily="34" charset="-122"/>
                <a:ea typeface="Hiragino Sans GB" panose="020B0300000000000000" pitchFamily="34" charset="-122"/>
                <a:cs typeface="Hiragino Sans GB" panose="020B0300000000000000" pitchFamily="34" charset="-120"/>
              </a:rPr>
              <a:t>与只发社交媒体相比，旅行日记更能留下时间、地点、气味和情绪，像给未来的自己留一份现场快照。</a:t>
            </a:r>
            <a:endParaRPr lang="en-US" sz="1100" dirty="0"/>
          </a:p>
        </p:txBody>
      </p:sp>
      <p:sp>
        <p:nvSpPr>
          <p:cNvPr id="18" name="Shape 16"/>
          <p:cNvSpPr/>
          <p:nvPr/>
        </p:nvSpPr>
        <p:spPr>
          <a:xfrm>
            <a:off x="7722870" y="1938528"/>
            <a:ext cx="2761488" cy="3017520"/>
          </a:xfrm>
          <a:prstGeom prst="roundRect">
            <a:avLst>
              <a:gd name="adj" fmla="val 3974"/>
            </a:avLst>
          </a:prstGeom>
          <a:solidFill>
            <a:srgbClr val="F4F0EA"/>
          </a:solidFill>
          <a:ln w="12700">
            <a:solidFill>
              <a:srgbClr val="E9DBD0"/>
            </a:solidFill>
            <a:prstDash val="solid"/>
          </a:ln>
        </p:spPr>
      </p:sp>
      <p:sp>
        <p:nvSpPr>
          <p:cNvPr id="19" name="Text 17"/>
          <p:cNvSpPr/>
          <p:nvPr/>
        </p:nvSpPr>
        <p:spPr>
          <a:xfrm>
            <a:off x="7942326" y="2176272"/>
            <a:ext cx="2194560" cy="182880"/>
          </a:xfrm>
          <a:prstGeom prst="rect">
            <a:avLst/>
          </a:prstGeom>
          <a:noFill/>
        </p:spPr>
        <p:txBody>
          <a:bodyPr wrap="square" lIns="0" tIns="0" rIns="0" bIns="0" rtlCol="0" anchor="ctr"/>
          <a:lstStyle/>
          <a:p>
            <a:pPr marL="0" indent="0">
              <a:buNone/>
            </a:pPr>
            <a:r>
              <a:rPr lang="en-US" sz="880" b="1" dirty="0">
                <a:solidFill>
                  <a:srgbClr val="C46467"/>
                </a:solidFill>
                <a:latin typeface="Avenir Next" panose="020B0803020202020204" pitchFamily="34" charset="0"/>
                <a:ea typeface="Avenir Next" panose="020B0803020202020204" pitchFamily="34" charset="-122"/>
                <a:cs typeface="Avenir Next" panose="020B0803020202020204" pitchFamily="34" charset="-120"/>
              </a:rPr>
              <a:t>El Periplo / 2014</a:t>
            </a:r>
            <a:endParaRPr lang="en-US" sz="880" dirty="0"/>
          </a:p>
        </p:txBody>
      </p:sp>
      <p:sp>
        <p:nvSpPr>
          <p:cNvPr id="20" name="Text 18"/>
          <p:cNvSpPr/>
          <p:nvPr/>
        </p:nvSpPr>
        <p:spPr>
          <a:xfrm>
            <a:off x="7942326" y="2542032"/>
            <a:ext cx="2194560" cy="475488"/>
          </a:xfrm>
          <a:prstGeom prst="rect">
            <a:avLst/>
          </a:prstGeom>
          <a:noFill/>
        </p:spPr>
        <p:txBody>
          <a:bodyPr wrap="square" lIns="0" tIns="0" rIns="0" bIns="0" rtlCol="0" anchor="ctr"/>
          <a:lstStyle/>
          <a:p>
            <a:pPr marL="0" indent="0">
              <a:buNone/>
            </a:pPr>
            <a:r>
              <a:rPr lang="en-US" sz="1450" b="1" dirty="0">
                <a:solidFill>
                  <a:srgbClr val="5B4338"/>
                </a:solidFill>
                <a:latin typeface="Hiragino Sans GB" panose="020B0300000000000000" pitchFamily="34" charset="-122"/>
                <a:ea typeface="Hiragino Sans GB" panose="020B0300000000000000" pitchFamily="34" charset="-122"/>
                <a:cs typeface="Hiragino Sans GB" panose="020B0300000000000000" pitchFamily="34" charset="-120"/>
              </a:rPr>
              <a:t>真实经历本身也能帮助别人</a:t>
            </a:r>
            <a:endParaRPr lang="en-US" sz="1450" dirty="0"/>
          </a:p>
        </p:txBody>
      </p:sp>
      <p:sp>
        <p:nvSpPr>
          <p:cNvPr id="21" name="Text 19"/>
          <p:cNvSpPr/>
          <p:nvPr/>
        </p:nvSpPr>
        <p:spPr>
          <a:xfrm>
            <a:off x="7942326" y="3246120"/>
            <a:ext cx="2267712" cy="1207008"/>
          </a:xfrm>
          <a:prstGeom prst="rect">
            <a:avLst/>
          </a:prstGeom>
          <a:noFill/>
        </p:spPr>
        <p:txBody>
          <a:bodyPr wrap="square" lIns="0" tIns="0" rIns="0" bIns="0" rtlCol="0" anchor="ctr"/>
          <a:lstStyle/>
          <a:p>
            <a:pPr marL="0" indent="0">
              <a:buNone/>
            </a:pPr>
            <a:r>
              <a:rPr lang="en-US" sz="1100" dirty="0">
                <a:solidFill>
                  <a:srgbClr val="866F63"/>
                </a:solidFill>
                <a:latin typeface="Hiragino Sans GB" panose="020B0300000000000000" pitchFamily="34" charset="-122"/>
                <a:ea typeface="Hiragino Sans GB" panose="020B0300000000000000" pitchFamily="34" charset="-122"/>
                <a:cs typeface="Hiragino Sans GB" panose="020B0300000000000000" pitchFamily="34" charset="-120"/>
              </a:rPr>
              <a:t>旅行中的用户生成内容，不只是在表达自己，也能把基于亲身经验的建议和感受传递给其他旅行者。</a:t>
            </a:r>
            <a:endParaRPr lang="en-US" sz="1100" dirty="0"/>
          </a:p>
        </p:txBody>
      </p:sp>
      <p:sp>
        <p:nvSpPr>
          <p:cNvPr id="22" name="Shape 20"/>
          <p:cNvSpPr/>
          <p:nvPr/>
        </p:nvSpPr>
        <p:spPr>
          <a:xfrm>
            <a:off x="868680" y="5321808"/>
            <a:ext cx="10451592" cy="713232"/>
          </a:xfrm>
          <a:prstGeom prst="roundRect">
            <a:avLst>
              <a:gd name="adj" fmla="val 15385"/>
            </a:avLst>
          </a:prstGeom>
          <a:solidFill>
            <a:srgbClr val="FBF5EF"/>
          </a:solidFill>
          <a:ln w="12700">
            <a:solidFill>
              <a:srgbClr val="E9DBD0"/>
            </a:solidFill>
            <a:prstDash val="solid"/>
          </a:ln>
        </p:spPr>
      </p:sp>
      <p:sp>
        <p:nvSpPr>
          <p:cNvPr id="23" name="Text 21"/>
          <p:cNvSpPr/>
          <p:nvPr/>
        </p:nvSpPr>
        <p:spPr>
          <a:xfrm>
            <a:off x="1078992" y="5559552"/>
            <a:ext cx="10012680" cy="201168"/>
          </a:xfrm>
          <a:prstGeom prst="rect">
            <a:avLst/>
          </a:prstGeom>
          <a:noFill/>
        </p:spPr>
        <p:txBody>
          <a:bodyPr wrap="square" lIns="0" tIns="0" rIns="0" bIns="0" rtlCol="0" anchor="ctr"/>
          <a:lstStyle/>
          <a:p>
            <a:pPr marL="0" indent="0" algn="ctr">
              <a:buNone/>
            </a:pPr>
            <a:r>
              <a:rPr lang="en-US" sz="1200" b="1" dirty="0">
                <a:solidFill>
                  <a:srgbClr val="88504C"/>
                </a:solidFill>
                <a:latin typeface="Hiragino Sans GB" panose="020B0300000000000000" pitchFamily="34" charset="-122"/>
                <a:ea typeface="Hiragino Sans GB" panose="020B0300000000000000" pitchFamily="34" charset="-122"/>
                <a:cs typeface="Hiragino Sans GB" panose="020B0300000000000000" pitchFamily="34" charset="-120"/>
              </a:rPr>
              <a:t>这几条公开观察最终都指向同一件事：</a:t>
            </a:r>
            <a:endParaRPr lang="en-US" sz="1200" b="1" dirty="0">
              <a:solidFill>
                <a:srgbClr val="88504C"/>
              </a:solidFill>
              <a:latin typeface="Hiragino Sans GB" panose="020B0300000000000000" pitchFamily="34" charset="-122"/>
              <a:ea typeface="Hiragino Sans GB" panose="020B0300000000000000" pitchFamily="34" charset="-122"/>
              <a:cs typeface="Hiragino Sans GB" panose="020B0300000000000000" pitchFamily="34" charset="-120"/>
            </a:endParaRPr>
          </a:p>
          <a:p>
            <a:pPr marL="0" indent="0" algn="ctr">
              <a:buNone/>
            </a:pPr>
            <a:r>
              <a:rPr lang="en-US" sz="1400" b="1" dirty="0">
                <a:solidFill>
                  <a:srgbClr val="88504C"/>
                </a:solidFill>
                <a:latin typeface="Hiragino Sans GB" panose="020B0300000000000000" pitchFamily="34" charset="-122"/>
                <a:ea typeface="Hiragino Sans GB" panose="020B0300000000000000" pitchFamily="34" charset="-122"/>
                <a:cs typeface="Hiragino Sans GB" panose="020B0300000000000000" pitchFamily="34" charset="-120"/>
              </a:rPr>
              <a:t>用户并不缺照片，缺的是一种更有仪式感、更容易回看、也更愿意分享的旅行记录方式。</a:t>
            </a:r>
            <a:endParaRPr lang="en-US" sz="1400" b="1" dirty="0">
              <a:solidFill>
                <a:srgbClr val="88504C"/>
              </a:solidFill>
              <a:latin typeface="Hiragino Sans GB" panose="020B0300000000000000" pitchFamily="34" charset="-122"/>
              <a:ea typeface="Hiragino Sans GB" panose="020B0300000000000000" pitchFamily="34" charset="-122"/>
              <a:cs typeface="Hiragino Sans GB" panose="020B0300000000000000" pitchFamily="34" charset="-12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0E8"/>
          </a:solidFill>
          <a:ln w="12700">
            <a:solidFill>
              <a:srgbClr val="F7F0E8">
                <a:alpha val="0"/>
              </a:srgbClr>
            </a:solidFill>
            <a:prstDash val="solid"/>
          </a:ln>
        </p:spPr>
      </p:sp>
      <p:sp>
        <p:nvSpPr>
          <p:cNvPr id="3" name="Shape 1"/>
          <p:cNvSpPr/>
          <p:nvPr/>
        </p:nvSpPr>
        <p:spPr>
          <a:xfrm>
            <a:off x="9784080" y="-822960"/>
            <a:ext cx="3474720" cy="2468880"/>
          </a:xfrm>
          <a:prstGeom prst="ellipse">
            <a:avLst/>
          </a:prstGeom>
          <a:solidFill>
            <a:srgbClr val="F0D7D2">
              <a:alpha val="42000"/>
            </a:srgbClr>
          </a:solidFill>
          <a:ln w="12700">
            <a:solidFill>
              <a:srgbClr val="F7F0E8">
                <a:alpha val="0"/>
              </a:srgbClr>
            </a:solidFill>
            <a:prstDash val="solid"/>
          </a:ln>
        </p:spPr>
      </p:sp>
      <p:sp>
        <p:nvSpPr>
          <p:cNvPr id="4" name="Shape 2"/>
          <p:cNvSpPr/>
          <p:nvPr/>
        </p:nvSpPr>
        <p:spPr>
          <a:xfrm>
            <a:off x="-731520" y="5577840"/>
            <a:ext cx="2743200" cy="1920240"/>
          </a:xfrm>
          <a:prstGeom prst="ellipse">
            <a:avLst/>
          </a:prstGeom>
          <a:solidFill>
            <a:srgbClr val="E9C8C0">
              <a:alpha val="28000"/>
            </a:srgbClr>
          </a:solidFill>
          <a:ln w="12700">
            <a:solidFill>
              <a:srgbClr val="F7F0E8">
                <a:alpha val="0"/>
              </a:srgbClr>
            </a:solidFill>
            <a:prstDash val="solid"/>
          </a:ln>
        </p:spPr>
      </p:sp>
      <p:sp>
        <p:nvSpPr>
          <p:cNvPr id="5" name="Shape 3"/>
          <p:cNvSpPr/>
          <p:nvPr/>
        </p:nvSpPr>
        <p:spPr>
          <a:xfrm>
            <a:off x="713232" y="612648"/>
            <a:ext cx="310896" cy="0"/>
          </a:xfrm>
          <a:prstGeom prst="line">
            <a:avLst/>
          </a:prstGeom>
          <a:noFill/>
          <a:ln w="12700">
            <a:solidFill>
              <a:srgbClr val="C46467"/>
            </a:solidFill>
            <a:prstDash val="solid"/>
          </a:ln>
        </p:spPr>
      </p:sp>
      <p:sp>
        <p:nvSpPr>
          <p:cNvPr id="6" name="Text 4"/>
          <p:cNvSpPr/>
          <p:nvPr/>
        </p:nvSpPr>
        <p:spPr>
          <a:xfrm>
            <a:off x="1069848" y="429768"/>
            <a:ext cx="4206240" cy="201168"/>
          </a:xfrm>
          <a:prstGeom prst="rect">
            <a:avLst/>
          </a:prstGeom>
          <a:noFill/>
        </p:spPr>
        <p:txBody>
          <a:bodyPr wrap="square" rtlCol="0" anchor="ctr"/>
          <a:lstStyle/>
          <a:p>
            <a:pPr marL="0" indent="0">
              <a:buNone/>
            </a:pPr>
            <a:r>
              <a:rPr lang="en-US" sz="900" b="1" dirty="0">
                <a:solidFill>
                  <a:srgbClr val="866F63"/>
                </a:solidFill>
                <a:latin typeface="Avenir Next" panose="020B0803020202020204" pitchFamily="34" charset="0"/>
                <a:ea typeface="Avenir Next" panose="020B0803020202020204" pitchFamily="34" charset="-122"/>
                <a:cs typeface="Avenir Next" panose="020B0803020202020204" pitchFamily="34" charset="-120"/>
              </a:rPr>
              <a:t>ROADMAP / PRODUCT DIRECTION</a:t>
            </a:r>
            <a:endParaRPr lang="en-US" sz="900" dirty="0"/>
          </a:p>
        </p:txBody>
      </p:sp>
      <p:sp>
        <p:nvSpPr>
          <p:cNvPr id="7" name="Text 5"/>
          <p:cNvSpPr/>
          <p:nvPr/>
        </p:nvSpPr>
        <p:spPr>
          <a:xfrm>
            <a:off x="11155680" y="384048"/>
            <a:ext cx="329184" cy="219456"/>
          </a:xfrm>
          <a:prstGeom prst="rect">
            <a:avLst/>
          </a:prstGeom>
          <a:noFill/>
        </p:spPr>
        <p:txBody>
          <a:bodyPr wrap="square" rtlCol="0" anchor="ctr"/>
          <a:lstStyle/>
          <a:p>
            <a:pPr marL="0" indent="0" algn="r">
              <a:buNone/>
            </a:pPr>
            <a:r>
              <a:rPr lang="en-US" sz="1000" b="1" dirty="0">
                <a:solidFill>
                  <a:srgbClr val="C46467"/>
                </a:solidFill>
                <a:latin typeface="Avenir Next" panose="020B0803020202020204" pitchFamily="34" charset="0"/>
                <a:ea typeface="Avenir Next" panose="020B0803020202020204" pitchFamily="34" charset="-122"/>
                <a:cs typeface="Avenir Next" panose="020B0803020202020204" pitchFamily="34" charset="-120"/>
              </a:rPr>
              <a:t>07</a:t>
            </a:r>
            <a:endParaRPr lang="en-US" sz="1000" dirty="0"/>
          </a:p>
        </p:txBody>
      </p:sp>
      <p:sp>
        <p:nvSpPr>
          <p:cNvPr id="8" name="Text 6"/>
          <p:cNvSpPr/>
          <p:nvPr/>
        </p:nvSpPr>
        <p:spPr>
          <a:xfrm>
            <a:off x="822960" y="868680"/>
            <a:ext cx="9966960" cy="621792"/>
          </a:xfrm>
          <a:prstGeom prst="rect">
            <a:avLst/>
          </a:prstGeom>
          <a:noFill/>
        </p:spPr>
        <p:txBody>
          <a:bodyPr wrap="square" lIns="0" tIns="0" rIns="0" bIns="0" rtlCol="0" anchor="ctr"/>
          <a:lstStyle/>
          <a:p>
            <a:pPr marL="0" indent="0">
              <a:buNone/>
            </a:pPr>
            <a:r>
              <a:rPr lang="en-US" sz="2150" b="1" dirty="0">
                <a:solidFill>
                  <a:srgbClr val="5B4338"/>
                </a:solidFill>
                <a:latin typeface="Songti SC" panose="02010800040101010101" pitchFamily="34" charset="-122"/>
                <a:ea typeface="Songti SC" panose="02010800040101010101" pitchFamily="34" charset="-122"/>
                <a:cs typeface="Songti SC" panose="02010800040101010101" pitchFamily="34" charset="-120"/>
              </a:rPr>
              <a:t>下一步要继续放大的，是用户愿不愿意持续记录、回看和分享</a:t>
            </a:r>
            <a:endParaRPr lang="en-US" sz="2150" dirty="0"/>
          </a:p>
        </p:txBody>
      </p:sp>
      <p:sp>
        <p:nvSpPr>
          <p:cNvPr id="9" name="Text 7"/>
          <p:cNvSpPr/>
          <p:nvPr/>
        </p:nvSpPr>
        <p:spPr>
          <a:xfrm>
            <a:off x="822960" y="1527048"/>
            <a:ext cx="7498080" cy="420624"/>
          </a:xfrm>
          <a:prstGeom prst="rect">
            <a:avLst/>
          </a:prstGeom>
          <a:noFill/>
        </p:spPr>
        <p:txBody>
          <a:bodyPr wrap="square" lIns="0" tIns="0" rIns="0" bIns="0" rtlCol="0" anchor="ctr"/>
          <a:lstStyle/>
          <a:p>
            <a:pPr marL="0" indent="0">
              <a:buNone/>
            </a:pPr>
            <a:r>
              <a:rPr lang="en-US" sz="1050" dirty="0">
                <a:solidFill>
                  <a:srgbClr val="866F63"/>
                </a:solidFill>
                <a:latin typeface="Hiragino Sans GB" panose="020B0300000000000000" pitchFamily="34" charset="-122"/>
                <a:ea typeface="Hiragino Sans GB" panose="020B0300000000000000" pitchFamily="34" charset="-122"/>
                <a:cs typeface="Hiragino Sans GB" panose="020B0300000000000000" pitchFamily="34" charset="-120"/>
              </a:rPr>
              <a:t>从“能做出来”走向“有人持续使用”，关键看这三件事。</a:t>
            </a:r>
            <a:endParaRPr lang="en-US" sz="1050" dirty="0"/>
          </a:p>
        </p:txBody>
      </p:sp>
      <p:sp>
        <p:nvSpPr>
          <p:cNvPr id="10" name="Shape 8"/>
          <p:cNvSpPr/>
          <p:nvPr/>
        </p:nvSpPr>
        <p:spPr>
          <a:xfrm>
            <a:off x="868680" y="1847088"/>
            <a:ext cx="6510528" cy="4315968"/>
          </a:xfrm>
          <a:prstGeom prst="roundRect">
            <a:avLst>
              <a:gd name="adj" fmla="val 2542"/>
            </a:avLst>
          </a:prstGeom>
          <a:solidFill>
            <a:srgbClr val="FFFDF9"/>
          </a:solidFill>
          <a:ln w="12700">
            <a:solidFill>
              <a:srgbClr val="E9DBD0"/>
            </a:solidFill>
            <a:prstDash val="solid"/>
          </a:ln>
        </p:spPr>
      </p:sp>
      <p:sp>
        <p:nvSpPr>
          <p:cNvPr id="11" name="Shape 9"/>
          <p:cNvSpPr/>
          <p:nvPr/>
        </p:nvSpPr>
        <p:spPr>
          <a:xfrm>
            <a:off x="1371600" y="2432304"/>
            <a:ext cx="0" cy="2980944"/>
          </a:xfrm>
          <a:prstGeom prst="line">
            <a:avLst/>
          </a:prstGeom>
          <a:noFill/>
          <a:ln w="12700">
            <a:solidFill>
              <a:srgbClr val="E9C8C0"/>
            </a:solidFill>
            <a:prstDash val="solid"/>
          </a:ln>
        </p:spPr>
      </p:sp>
      <p:sp>
        <p:nvSpPr>
          <p:cNvPr id="12" name="Shape 10"/>
          <p:cNvSpPr/>
          <p:nvPr/>
        </p:nvSpPr>
        <p:spPr>
          <a:xfrm>
            <a:off x="1225296" y="2304288"/>
            <a:ext cx="292608" cy="292608"/>
          </a:xfrm>
          <a:prstGeom prst="ellipse">
            <a:avLst/>
          </a:prstGeom>
          <a:solidFill>
            <a:srgbClr val="C46467"/>
          </a:solidFill>
          <a:ln w="12700">
            <a:solidFill>
              <a:srgbClr val="C46467">
                <a:alpha val="0"/>
              </a:srgbClr>
            </a:solidFill>
            <a:prstDash val="solid"/>
          </a:ln>
        </p:spPr>
      </p:sp>
      <p:sp>
        <p:nvSpPr>
          <p:cNvPr id="13" name="Text 11"/>
          <p:cNvSpPr/>
          <p:nvPr/>
        </p:nvSpPr>
        <p:spPr>
          <a:xfrm>
            <a:off x="1783080" y="2249424"/>
            <a:ext cx="914400" cy="164592"/>
          </a:xfrm>
          <a:prstGeom prst="rect">
            <a:avLst/>
          </a:prstGeom>
          <a:noFill/>
        </p:spPr>
        <p:txBody>
          <a:bodyPr wrap="square" lIns="0" tIns="0" rIns="0" bIns="0" rtlCol="0" anchor="ctr"/>
          <a:lstStyle/>
          <a:p>
            <a:pPr marL="0" indent="0">
              <a:buNone/>
            </a:pPr>
            <a:r>
              <a:rPr lang="en-US" sz="1500" b="1" dirty="0">
                <a:solidFill>
                  <a:srgbClr val="5B4338"/>
                </a:solidFill>
                <a:latin typeface="Hiragino Sans GB" panose="020B0300000000000000" pitchFamily="34" charset="-122"/>
                <a:ea typeface="Hiragino Sans GB" panose="020B0300000000000000" pitchFamily="34" charset="-122"/>
                <a:cs typeface="Hiragino Sans GB" panose="020B0300000000000000" pitchFamily="34" charset="-120"/>
              </a:rPr>
              <a:t>近期</a:t>
            </a:r>
            <a:endParaRPr lang="en-US" sz="1500" dirty="0"/>
          </a:p>
        </p:txBody>
      </p:sp>
      <p:sp>
        <p:nvSpPr>
          <p:cNvPr id="14" name="Text 12"/>
          <p:cNvSpPr/>
          <p:nvPr/>
        </p:nvSpPr>
        <p:spPr>
          <a:xfrm>
            <a:off x="2743200" y="2249424"/>
            <a:ext cx="3429000" cy="475488"/>
          </a:xfrm>
          <a:prstGeom prst="rect">
            <a:avLst/>
          </a:prstGeom>
          <a:noFill/>
        </p:spPr>
        <p:txBody>
          <a:bodyPr wrap="square" lIns="0" tIns="0" rIns="0" bIns="0" rtlCol="0" anchor="ctr"/>
          <a:lstStyle/>
          <a:p>
            <a:pPr marL="0" indent="0">
              <a:buNone/>
            </a:pPr>
            <a:r>
              <a:rPr lang="en-US" sz="1100" dirty="0">
                <a:solidFill>
                  <a:srgbClr val="866F63"/>
                </a:solidFill>
                <a:latin typeface="Hiragino Sans GB" panose="020B0300000000000000" pitchFamily="34" charset="-122"/>
                <a:ea typeface="Hiragino Sans GB" panose="020B0300000000000000" pitchFamily="34" charset="-122"/>
                <a:cs typeface="Hiragino Sans GB" panose="020B0300000000000000" pitchFamily="34" charset="-120"/>
              </a:rPr>
              <a:t>完善移动端生成、集册和地图核心体验，让从上传到保存的主链路更稳定、更顺滑。</a:t>
            </a:r>
            <a:endParaRPr lang="en-US" sz="1100" dirty="0"/>
          </a:p>
        </p:txBody>
      </p:sp>
      <p:sp>
        <p:nvSpPr>
          <p:cNvPr id="15" name="Shape 13"/>
          <p:cNvSpPr/>
          <p:nvPr/>
        </p:nvSpPr>
        <p:spPr>
          <a:xfrm>
            <a:off x="1225296" y="3364992"/>
            <a:ext cx="292608" cy="292608"/>
          </a:xfrm>
          <a:prstGeom prst="ellipse">
            <a:avLst/>
          </a:prstGeom>
          <a:solidFill>
            <a:srgbClr val="C46467"/>
          </a:solidFill>
          <a:ln w="12700">
            <a:solidFill>
              <a:srgbClr val="C46467">
                <a:alpha val="0"/>
              </a:srgbClr>
            </a:solidFill>
            <a:prstDash val="solid"/>
          </a:ln>
        </p:spPr>
      </p:sp>
      <p:sp>
        <p:nvSpPr>
          <p:cNvPr id="16" name="Text 14"/>
          <p:cNvSpPr/>
          <p:nvPr/>
        </p:nvSpPr>
        <p:spPr>
          <a:xfrm>
            <a:off x="1783080" y="3310128"/>
            <a:ext cx="914400" cy="164592"/>
          </a:xfrm>
          <a:prstGeom prst="rect">
            <a:avLst/>
          </a:prstGeom>
          <a:noFill/>
        </p:spPr>
        <p:txBody>
          <a:bodyPr wrap="square" lIns="0" tIns="0" rIns="0" bIns="0" rtlCol="0" anchor="ctr"/>
          <a:lstStyle/>
          <a:p>
            <a:pPr marL="0" indent="0">
              <a:buNone/>
            </a:pPr>
            <a:r>
              <a:rPr lang="en-US" sz="1500" b="1" dirty="0">
                <a:solidFill>
                  <a:srgbClr val="5B4338"/>
                </a:solidFill>
                <a:latin typeface="Hiragino Sans GB" panose="020B0300000000000000" pitchFamily="34" charset="-122"/>
                <a:ea typeface="Hiragino Sans GB" panose="020B0300000000000000" pitchFamily="34" charset="-122"/>
                <a:cs typeface="Hiragino Sans GB" panose="020B0300000000000000" pitchFamily="34" charset="-120"/>
              </a:rPr>
              <a:t>中期</a:t>
            </a:r>
            <a:endParaRPr lang="en-US" sz="1500" dirty="0"/>
          </a:p>
        </p:txBody>
      </p:sp>
      <p:sp>
        <p:nvSpPr>
          <p:cNvPr id="17" name="Text 15"/>
          <p:cNvSpPr/>
          <p:nvPr/>
        </p:nvSpPr>
        <p:spPr>
          <a:xfrm>
            <a:off x="2743200" y="3310128"/>
            <a:ext cx="3429000" cy="475488"/>
          </a:xfrm>
          <a:prstGeom prst="rect">
            <a:avLst/>
          </a:prstGeom>
          <a:noFill/>
        </p:spPr>
        <p:txBody>
          <a:bodyPr wrap="square" lIns="0" tIns="0" rIns="0" bIns="0" rtlCol="0" anchor="ctr"/>
          <a:lstStyle/>
          <a:p>
            <a:pPr marL="0" indent="0">
              <a:buNone/>
            </a:pPr>
            <a:r>
              <a:rPr lang="en-US" sz="1100" dirty="0">
                <a:solidFill>
                  <a:srgbClr val="866F63"/>
                </a:solidFill>
                <a:latin typeface="Hiragino Sans GB" panose="020B0300000000000000" pitchFamily="34" charset="-122"/>
                <a:ea typeface="Hiragino Sans GB" panose="020B0300000000000000" pitchFamily="34" charset="-122"/>
                <a:cs typeface="Hiragino Sans GB" panose="020B0300000000000000" pitchFamily="34" charset="-120"/>
              </a:rPr>
              <a:t>上线分享卡、模板、时间轴等能力，让用户不仅能生成，也愿意补写、回看和再次分享。</a:t>
            </a:r>
            <a:endParaRPr lang="en-US" sz="1100" dirty="0"/>
          </a:p>
        </p:txBody>
      </p:sp>
      <p:sp>
        <p:nvSpPr>
          <p:cNvPr id="18" name="Shape 16"/>
          <p:cNvSpPr/>
          <p:nvPr/>
        </p:nvSpPr>
        <p:spPr>
          <a:xfrm>
            <a:off x="1225296" y="4425696"/>
            <a:ext cx="292608" cy="292608"/>
          </a:xfrm>
          <a:prstGeom prst="ellipse">
            <a:avLst/>
          </a:prstGeom>
          <a:solidFill>
            <a:srgbClr val="C46467"/>
          </a:solidFill>
          <a:ln w="12700">
            <a:solidFill>
              <a:srgbClr val="C46467">
                <a:alpha val="0"/>
              </a:srgbClr>
            </a:solidFill>
            <a:prstDash val="solid"/>
          </a:ln>
        </p:spPr>
      </p:sp>
      <p:sp>
        <p:nvSpPr>
          <p:cNvPr id="19" name="Text 17"/>
          <p:cNvSpPr/>
          <p:nvPr/>
        </p:nvSpPr>
        <p:spPr>
          <a:xfrm>
            <a:off x="1783080" y="4370832"/>
            <a:ext cx="914400" cy="164592"/>
          </a:xfrm>
          <a:prstGeom prst="rect">
            <a:avLst/>
          </a:prstGeom>
          <a:noFill/>
        </p:spPr>
        <p:txBody>
          <a:bodyPr wrap="square" lIns="0" tIns="0" rIns="0" bIns="0" rtlCol="0" anchor="ctr"/>
          <a:lstStyle/>
          <a:p>
            <a:pPr marL="0" indent="0">
              <a:buNone/>
            </a:pPr>
            <a:r>
              <a:rPr lang="en-US" sz="1500" b="1" dirty="0">
                <a:solidFill>
                  <a:srgbClr val="5B4338"/>
                </a:solidFill>
                <a:latin typeface="Hiragino Sans GB" panose="020B0300000000000000" pitchFamily="34" charset="-122"/>
                <a:ea typeface="Hiragino Sans GB" panose="020B0300000000000000" pitchFamily="34" charset="-122"/>
                <a:cs typeface="Hiragino Sans GB" panose="020B0300000000000000" pitchFamily="34" charset="-120"/>
              </a:rPr>
              <a:t>长期方向</a:t>
            </a:r>
            <a:endParaRPr lang="en-US" sz="1500" dirty="0"/>
          </a:p>
        </p:txBody>
      </p:sp>
      <p:sp>
        <p:nvSpPr>
          <p:cNvPr id="20" name="Text 18"/>
          <p:cNvSpPr/>
          <p:nvPr/>
        </p:nvSpPr>
        <p:spPr>
          <a:xfrm>
            <a:off x="2743200" y="4370832"/>
            <a:ext cx="3429000" cy="475488"/>
          </a:xfrm>
          <a:prstGeom prst="rect">
            <a:avLst/>
          </a:prstGeom>
          <a:noFill/>
        </p:spPr>
        <p:txBody>
          <a:bodyPr wrap="square" lIns="0" tIns="0" rIns="0" bIns="0" rtlCol="0" anchor="ctr"/>
          <a:lstStyle/>
          <a:p>
            <a:pPr marL="0" indent="0">
              <a:buNone/>
            </a:pPr>
            <a:r>
              <a:rPr lang="en-US" sz="1100" dirty="0">
                <a:solidFill>
                  <a:srgbClr val="866F63"/>
                </a:solidFill>
                <a:latin typeface="Hiragino Sans GB" panose="020B0300000000000000" pitchFamily="34" charset="-122"/>
                <a:ea typeface="Hiragino Sans GB" panose="020B0300000000000000" pitchFamily="34" charset="-122"/>
                <a:cs typeface="Hiragino Sans GB" panose="020B0300000000000000" pitchFamily="34" charset="-120"/>
              </a:rPr>
              <a:t>把一枚枚印迹继续沉淀成个人旅行集册与地图档案，让产品更像一种持续记录的习惯。</a:t>
            </a:r>
            <a:endParaRPr lang="en-US" sz="1100" dirty="0"/>
          </a:p>
        </p:txBody>
      </p:sp>
      <p:sp>
        <p:nvSpPr>
          <p:cNvPr id="21" name="Shape 19"/>
          <p:cNvSpPr/>
          <p:nvPr/>
        </p:nvSpPr>
        <p:spPr>
          <a:xfrm>
            <a:off x="7726680" y="1847088"/>
            <a:ext cx="3593592" cy="3767328"/>
          </a:xfrm>
          <a:prstGeom prst="roundRect">
            <a:avLst>
              <a:gd name="adj" fmla="val 3053"/>
            </a:avLst>
          </a:prstGeom>
          <a:solidFill>
            <a:srgbClr val="FBF5EF"/>
          </a:solidFill>
          <a:ln w="12700">
            <a:solidFill>
              <a:srgbClr val="E9DBD0"/>
            </a:solidFill>
            <a:prstDash val="solid"/>
          </a:ln>
        </p:spPr>
      </p:sp>
      <p:sp>
        <p:nvSpPr>
          <p:cNvPr id="22" name="Shape 20"/>
          <p:cNvSpPr/>
          <p:nvPr/>
        </p:nvSpPr>
        <p:spPr>
          <a:xfrm>
            <a:off x="8613648" y="2121408"/>
            <a:ext cx="1170432" cy="347472"/>
          </a:xfrm>
          <a:prstGeom prst="roundRect">
            <a:avLst>
              <a:gd name="adj" fmla="val 21053"/>
            </a:avLst>
          </a:prstGeom>
          <a:solidFill>
            <a:srgbClr val="F0D7D2"/>
          </a:solidFill>
          <a:ln w="12700">
            <a:solidFill>
              <a:srgbClr val="E9C8C0"/>
            </a:solidFill>
            <a:prstDash val="solid"/>
          </a:ln>
        </p:spPr>
      </p:sp>
      <p:sp>
        <p:nvSpPr>
          <p:cNvPr id="23" name="Text 21"/>
          <p:cNvSpPr/>
          <p:nvPr/>
        </p:nvSpPr>
        <p:spPr>
          <a:xfrm>
            <a:off x="8613648" y="2189988"/>
            <a:ext cx="1170432" cy="182880"/>
          </a:xfrm>
          <a:prstGeom prst="rect">
            <a:avLst/>
          </a:prstGeom>
          <a:noFill/>
        </p:spPr>
        <p:txBody>
          <a:bodyPr wrap="square" lIns="0" tIns="0" rIns="0" bIns="0" rtlCol="0" anchor="ctr"/>
          <a:lstStyle/>
          <a:p>
            <a:pPr marL="0" indent="0" algn="ctr">
              <a:buNone/>
            </a:pPr>
            <a:r>
              <a:rPr lang="en-US" sz="850" b="1" dirty="0">
                <a:solidFill>
                  <a:srgbClr val="88504C"/>
                </a:solidFill>
                <a:latin typeface="Hiragino Sans GB" panose="020B0300000000000000" pitchFamily="34" charset="-122"/>
                <a:ea typeface="Hiragino Sans GB" panose="020B0300000000000000" pitchFamily="34" charset="-122"/>
                <a:cs typeface="Hiragino Sans GB" panose="020B0300000000000000" pitchFamily="34" charset="-120"/>
              </a:rPr>
              <a:t>重点验证</a:t>
            </a:r>
            <a:endParaRPr lang="en-US" sz="850" dirty="0"/>
          </a:p>
        </p:txBody>
      </p:sp>
      <p:sp>
        <p:nvSpPr>
          <p:cNvPr id="24" name="Shape 22"/>
          <p:cNvSpPr/>
          <p:nvPr/>
        </p:nvSpPr>
        <p:spPr>
          <a:xfrm>
            <a:off x="8065008" y="2779776"/>
            <a:ext cx="91440" cy="91440"/>
          </a:xfrm>
          <a:prstGeom prst="ellipse">
            <a:avLst/>
          </a:prstGeom>
          <a:solidFill>
            <a:srgbClr val="C46467"/>
          </a:solidFill>
          <a:ln w="12700">
            <a:solidFill>
              <a:srgbClr val="C46467">
                <a:alpha val="0"/>
              </a:srgbClr>
            </a:solidFill>
            <a:prstDash val="solid"/>
          </a:ln>
        </p:spPr>
      </p:sp>
      <p:sp>
        <p:nvSpPr>
          <p:cNvPr id="25" name="Text 23"/>
          <p:cNvSpPr/>
          <p:nvPr/>
        </p:nvSpPr>
        <p:spPr>
          <a:xfrm>
            <a:off x="8229600" y="2670048"/>
            <a:ext cx="2560320" cy="658368"/>
          </a:xfrm>
          <a:prstGeom prst="rect">
            <a:avLst/>
          </a:prstGeom>
          <a:noFill/>
        </p:spPr>
        <p:txBody>
          <a:bodyPr wrap="square" lIns="0" tIns="0" rIns="0" bIns="0" rtlCol="0" anchor="ctr"/>
          <a:lstStyle/>
          <a:p>
            <a:pPr marL="0" indent="0">
              <a:buNone/>
            </a:pPr>
            <a:r>
              <a:rPr lang="en-US" sz="1100" dirty="0">
                <a:solidFill>
                  <a:srgbClr val="5B4338"/>
                </a:solidFill>
                <a:latin typeface="Hiragino Sans GB" panose="020B0300000000000000" pitchFamily="34" charset="-122"/>
                <a:ea typeface="Hiragino Sans GB" panose="020B0300000000000000" pitchFamily="34" charset="-122"/>
                <a:cs typeface="Hiragino Sans GB" panose="020B0300000000000000" pitchFamily="34" charset="-120"/>
              </a:rPr>
              <a:t>用户会不会在一次旅行里多次生成，并主动整理成页。</a:t>
            </a:r>
            <a:endParaRPr lang="en-US" sz="1100" dirty="0"/>
          </a:p>
        </p:txBody>
      </p:sp>
      <p:sp>
        <p:nvSpPr>
          <p:cNvPr id="26" name="Shape 24"/>
          <p:cNvSpPr/>
          <p:nvPr/>
        </p:nvSpPr>
        <p:spPr>
          <a:xfrm>
            <a:off x="8065008" y="3639312"/>
            <a:ext cx="91440" cy="91440"/>
          </a:xfrm>
          <a:prstGeom prst="ellipse">
            <a:avLst/>
          </a:prstGeom>
          <a:solidFill>
            <a:srgbClr val="C46467"/>
          </a:solidFill>
          <a:ln w="12700">
            <a:solidFill>
              <a:srgbClr val="C46467">
                <a:alpha val="0"/>
              </a:srgbClr>
            </a:solidFill>
            <a:prstDash val="solid"/>
          </a:ln>
        </p:spPr>
      </p:sp>
      <p:sp>
        <p:nvSpPr>
          <p:cNvPr id="27" name="Text 25"/>
          <p:cNvSpPr/>
          <p:nvPr/>
        </p:nvSpPr>
        <p:spPr>
          <a:xfrm>
            <a:off x="8229600" y="3529584"/>
            <a:ext cx="2560320" cy="676656"/>
          </a:xfrm>
          <a:prstGeom prst="rect">
            <a:avLst/>
          </a:prstGeom>
          <a:noFill/>
        </p:spPr>
        <p:txBody>
          <a:bodyPr wrap="square" lIns="0" tIns="0" rIns="0" bIns="0" rtlCol="0" anchor="ctr"/>
          <a:lstStyle/>
          <a:p>
            <a:pPr marL="0" indent="0">
              <a:buNone/>
            </a:pPr>
            <a:r>
              <a:rPr lang="en-US" sz="1100" dirty="0">
                <a:solidFill>
                  <a:srgbClr val="5B4338"/>
                </a:solidFill>
                <a:latin typeface="Hiragino Sans GB" panose="020B0300000000000000" pitchFamily="34" charset="-122"/>
                <a:ea typeface="Hiragino Sans GB" panose="020B0300000000000000" pitchFamily="34" charset="-122"/>
                <a:cs typeface="Hiragino Sans GB" panose="020B0300000000000000" pitchFamily="34" charset="-120"/>
              </a:rPr>
              <a:t>用户在旅行结束后，会不会回来补写、回看和再次分享。</a:t>
            </a:r>
            <a:endParaRPr lang="en-US" sz="1100" dirty="0"/>
          </a:p>
        </p:txBody>
      </p:sp>
      <p:sp>
        <p:nvSpPr>
          <p:cNvPr id="28" name="Shape 26"/>
          <p:cNvSpPr/>
          <p:nvPr/>
        </p:nvSpPr>
        <p:spPr>
          <a:xfrm>
            <a:off x="8065008" y="4572000"/>
            <a:ext cx="91440" cy="91440"/>
          </a:xfrm>
          <a:prstGeom prst="ellipse">
            <a:avLst/>
          </a:prstGeom>
          <a:solidFill>
            <a:srgbClr val="C46467"/>
          </a:solidFill>
          <a:ln w="12700">
            <a:solidFill>
              <a:srgbClr val="C46467">
                <a:alpha val="0"/>
              </a:srgbClr>
            </a:solidFill>
            <a:prstDash val="solid"/>
          </a:ln>
        </p:spPr>
      </p:sp>
      <p:sp>
        <p:nvSpPr>
          <p:cNvPr id="29" name="Text 27"/>
          <p:cNvSpPr/>
          <p:nvPr/>
        </p:nvSpPr>
        <p:spPr>
          <a:xfrm>
            <a:off x="8229600" y="4462272"/>
            <a:ext cx="2560320" cy="658368"/>
          </a:xfrm>
          <a:prstGeom prst="rect">
            <a:avLst/>
          </a:prstGeom>
          <a:noFill/>
        </p:spPr>
        <p:txBody>
          <a:bodyPr wrap="square" lIns="0" tIns="0" rIns="0" bIns="0" rtlCol="0" anchor="ctr"/>
          <a:lstStyle/>
          <a:p>
            <a:pPr marL="0" indent="0">
              <a:buNone/>
            </a:pPr>
            <a:r>
              <a:rPr lang="en-US" sz="1100" dirty="0">
                <a:solidFill>
                  <a:srgbClr val="5B4338"/>
                </a:solidFill>
                <a:latin typeface="Hiragino Sans GB" panose="020B0300000000000000" pitchFamily="34" charset="-122"/>
                <a:ea typeface="Hiragino Sans GB" panose="020B0300000000000000" pitchFamily="34" charset="-122"/>
                <a:cs typeface="Hiragino Sans GB" panose="020B0300000000000000" pitchFamily="34" charset="-120"/>
              </a:rPr>
              <a:t>主题活动或线下场景，能不能提升再次使用和记录意愿。</a:t>
            </a:r>
            <a:endParaRPr lang="en-US" sz="1100" dirty="0"/>
          </a:p>
        </p:txBody>
      </p:sp>
      <p:sp>
        <p:nvSpPr>
          <p:cNvPr id="30" name="Shape 28"/>
          <p:cNvSpPr/>
          <p:nvPr/>
        </p:nvSpPr>
        <p:spPr>
          <a:xfrm>
            <a:off x="868680" y="5742432"/>
            <a:ext cx="10451592" cy="530352"/>
          </a:xfrm>
          <a:prstGeom prst="roundRect">
            <a:avLst>
              <a:gd name="adj" fmla="val 20690"/>
            </a:avLst>
          </a:prstGeom>
          <a:solidFill>
            <a:srgbClr val="F0D7D2"/>
          </a:solidFill>
          <a:ln w="12700">
            <a:solidFill>
              <a:srgbClr val="E9DBD0"/>
            </a:solidFill>
            <a:prstDash val="solid"/>
          </a:ln>
        </p:spPr>
      </p:sp>
      <p:sp>
        <p:nvSpPr>
          <p:cNvPr id="31" name="Text 29"/>
          <p:cNvSpPr/>
          <p:nvPr/>
        </p:nvSpPr>
        <p:spPr>
          <a:xfrm>
            <a:off x="1051560" y="5916168"/>
            <a:ext cx="10058400" cy="146304"/>
          </a:xfrm>
          <a:prstGeom prst="rect">
            <a:avLst/>
          </a:prstGeom>
          <a:noFill/>
        </p:spPr>
        <p:txBody>
          <a:bodyPr wrap="square" lIns="0" tIns="0" rIns="0" bIns="0" rtlCol="0" anchor="ctr"/>
          <a:lstStyle/>
          <a:p>
            <a:pPr marL="0" indent="0" algn="ctr">
              <a:buNone/>
            </a:pPr>
            <a:r>
              <a:rPr lang="en-US" sz="1250" b="1" dirty="0">
                <a:solidFill>
                  <a:srgbClr val="88504C"/>
                </a:solidFill>
                <a:latin typeface="Hiragino Sans GB" panose="020B0300000000000000" pitchFamily="34" charset="-122"/>
                <a:ea typeface="Hiragino Sans GB" panose="020B0300000000000000" pitchFamily="34" charset="-122"/>
                <a:cs typeface="Hiragino Sans GB" panose="020B0300000000000000" pitchFamily="34" charset="-120"/>
              </a:rPr>
              <a:t>如果用户愿意反复回来整理自己的旅行，印迹的产品价值就成立了一半。</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0E8"/>
          </a:solidFill>
          <a:ln w="12700">
            <a:solidFill>
              <a:srgbClr val="F7F0E8">
                <a:alpha val="0"/>
              </a:srgbClr>
            </a:solidFill>
            <a:prstDash val="solid"/>
          </a:ln>
        </p:spPr>
      </p:sp>
      <p:sp>
        <p:nvSpPr>
          <p:cNvPr id="3" name="Shape 1"/>
          <p:cNvSpPr/>
          <p:nvPr/>
        </p:nvSpPr>
        <p:spPr>
          <a:xfrm>
            <a:off x="9784080" y="-822960"/>
            <a:ext cx="3474720" cy="2468880"/>
          </a:xfrm>
          <a:prstGeom prst="ellipse">
            <a:avLst/>
          </a:prstGeom>
          <a:solidFill>
            <a:srgbClr val="F0D7D2">
              <a:alpha val="42000"/>
            </a:srgbClr>
          </a:solidFill>
          <a:ln w="12700">
            <a:solidFill>
              <a:srgbClr val="F7F0E8">
                <a:alpha val="0"/>
              </a:srgbClr>
            </a:solidFill>
            <a:prstDash val="solid"/>
          </a:ln>
        </p:spPr>
      </p:sp>
      <p:sp>
        <p:nvSpPr>
          <p:cNvPr id="4" name="Shape 2"/>
          <p:cNvSpPr/>
          <p:nvPr/>
        </p:nvSpPr>
        <p:spPr>
          <a:xfrm>
            <a:off x="-731520" y="5577840"/>
            <a:ext cx="2743200" cy="1920240"/>
          </a:xfrm>
          <a:prstGeom prst="ellipse">
            <a:avLst/>
          </a:prstGeom>
          <a:solidFill>
            <a:srgbClr val="E9C8C0">
              <a:alpha val="28000"/>
            </a:srgbClr>
          </a:solidFill>
          <a:ln w="12700">
            <a:solidFill>
              <a:srgbClr val="F7F0E8">
                <a:alpha val="0"/>
              </a:srgbClr>
            </a:solidFill>
            <a:prstDash val="solid"/>
          </a:ln>
        </p:spPr>
      </p:sp>
      <p:sp>
        <p:nvSpPr>
          <p:cNvPr id="5" name="Shape 3"/>
          <p:cNvSpPr/>
          <p:nvPr/>
        </p:nvSpPr>
        <p:spPr>
          <a:xfrm>
            <a:off x="713232" y="612648"/>
            <a:ext cx="310896" cy="0"/>
          </a:xfrm>
          <a:prstGeom prst="line">
            <a:avLst/>
          </a:prstGeom>
          <a:noFill/>
          <a:ln w="12700">
            <a:solidFill>
              <a:srgbClr val="C46467"/>
            </a:solidFill>
            <a:prstDash val="solid"/>
          </a:ln>
        </p:spPr>
      </p:sp>
      <p:sp>
        <p:nvSpPr>
          <p:cNvPr id="6" name="Text 4"/>
          <p:cNvSpPr/>
          <p:nvPr/>
        </p:nvSpPr>
        <p:spPr>
          <a:xfrm>
            <a:off x="1069848" y="429768"/>
            <a:ext cx="4206240" cy="201168"/>
          </a:xfrm>
          <a:prstGeom prst="rect">
            <a:avLst/>
          </a:prstGeom>
          <a:noFill/>
        </p:spPr>
        <p:txBody>
          <a:bodyPr wrap="square" rtlCol="0" anchor="ctr"/>
          <a:lstStyle/>
          <a:p>
            <a:pPr marL="0" indent="0">
              <a:buNone/>
            </a:pPr>
            <a:r>
              <a:rPr lang="en-US" sz="900" b="1" dirty="0">
                <a:solidFill>
                  <a:srgbClr val="866F63"/>
                </a:solidFill>
                <a:latin typeface="Avenir Next" panose="020B0803020202020204" pitchFamily="34" charset="0"/>
                <a:ea typeface="Avenir Next" panose="020B0803020202020204" pitchFamily="34" charset="-122"/>
                <a:cs typeface="Avenir Next" panose="020B0803020202020204" pitchFamily="34" charset="-120"/>
              </a:rPr>
              <a:t>APPENDIX</a:t>
            </a:r>
            <a:endParaRPr lang="en-US" sz="900" dirty="0"/>
          </a:p>
        </p:txBody>
      </p:sp>
      <p:sp>
        <p:nvSpPr>
          <p:cNvPr id="7" name="Text 5"/>
          <p:cNvSpPr/>
          <p:nvPr/>
        </p:nvSpPr>
        <p:spPr>
          <a:xfrm>
            <a:off x="11155680" y="384048"/>
            <a:ext cx="329184" cy="219456"/>
          </a:xfrm>
          <a:prstGeom prst="rect">
            <a:avLst/>
          </a:prstGeom>
          <a:noFill/>
        </p:spPr>
        <p:txBody>
          <a:bodyPr wrap="square" rtlCol="0" anchor="ctr"/>
          <a:lstStyle/>
          <a:p>
            <a:pPr marL="0" indent="0" algn="r">
              <a:buNone/>
            </a:pPr>
            <a:r>
              <a:rPr lang="en-US" sz="1000" b="1" dirty="0">
                <a:solidFill>
                  <a:srgbClr val="C46467"/>
                </a:solidFill>
                <a:latin typeface="Avenir Next" panose="020B0803020202020204" pitchFamily="34" charset="0"/>
                <a:ea typeface="Avenir Next" panose="020B0803020202020204" pitchFamily="34" charset="-122"/>
                <a:cs typeface="Avenir Next" panose="020B0803020202020204" pitchFamily="34" charset="-120"/>
              </a:rPr>
              <a:t>08</a:t>
            </a:r>
            <a:endParaRPr lang="en-US" sz="1000" dirty="0"/>
          </a:p>
        </p:txBody>
      </p:sp>
      <p:sp>
        <p:nvSpPr>
          <p:cNvPr id="8" name="Text 6"/>
          <p:cNvSpPr/>
          <p:nvPr/>
        </p:nvSpPr>
        <p:spPr>
          <a:xfrm>
            <a:off x="822960" y="868680"/>
            <a:ext cx="8412480" cy="621792"/>
          </a:xfrm>
          <a:prstGeom prst="rect">
            <a:avLst/>
          </a:prstGeom>
          <a:noFill/>
        </p:spPr>
        <p:txBody>
          <a:bodyPr wrap="square" lIns="0" tIns="0" rIns="0" bIns="0" rtlCol="0" anchor="ctr"/>
          <a:lstStyle/>
          <a:p>
            <a:pPr marL="0" indent="0">
              <a:buNone/>
            </a:pPr>
            <a:r>
              <a:rPr lang="en-US" sz="2200" b="1" dirty="0">
                <a:solidFill>
                  <a:srgbClr val="5B4338"/>
                </a:solidFill>
                <a:latin typeface="Songti SC" panose="02010800040101010101" pitchFamily="34" charset="-122"/>
                <a:ea typeface="Songti SC" panose="02010800040101010101" pitchFamily="34" charset="-122"/>
                <a:cs typeface="Songti SC" panose="02010800040101010101" pitchFamily="34" charset="-120"/>
              </a:rPr>
              <a:t>附录｜Web 手帐编辑器</a:t>
            </a:r>
            <a:endParaRPr lang="en-US" sz="2200" dirty="0"/>
          </a:p>
        </p:txBody>
      </p:sp>
      <p:sp>
        <p:nvSpPr>
          <p:cNvPr id="9" name="Text 7"/>
          <p:cNvSpPr/>
          <p:nvPr/>
        </p:nvSpPr>
        <p:spPr>
          <a:xfrm>
            <a:off x="822960" y="1527048"/>
            <a:ext cx="7498080" cy="420624"/>
          </a:xfrm>
          <a:prstGeom prst="rect">
            <a:avLst/>
          </a:prstGeom>
          <a:noFill/>
        </p:spPr>
        <p:txBody>
          <a:bodyPr wrap="square" lIns="0" tIns="0" rIns="0" bIns="0" rtlCol="0" anchor="ctr"/>
          <a:lstStyle/>
          <a:p>
            <a:pPr marL="0" indent="0">
              <a:buNone/>
            </a:pPr>
            <a:r>
              <a:rPr lang="en-US" sz="1050" dirty="0">
                <a:solidFill>
                  <a:srgbClr val="866F63"/>
                </a:solidFill>
                <a:latin typeface="Hiragino Sans GB" panose="020B0300000000000000" pitchFamily="34" charset="-122"/>
                <a:ea typeface="Hiragino Sans GB" panose="020B0300000000000000" pitchFamily="34" charset="-122"/>
                <a:cs typeface="Hiragino Sans GB" panose="020B0300000000000000" pitchFamily="34" charset="-120"/>
              </a:rPr>
              <a:t>旅行结束后，Web 端更适合做更重的版式编辑，补足移动端轻创作之外的生产力场景。</a:t>
            </a:r>
            <a:endParaRPr lang="en-US" sz="1050" dirty="0"/>
          </a:p>
        </p:txBody>
      </p:sp>
      <p:sp>
        <p:nvSpPr>
          <p:cNvPr id="10" name="Shape 8"/>
          <p:cNvSpPr/>
          <p:nvPr/>
        </p:nvSpPr>
        <p:spPr>
          <a:xfrm>
            <a:off x="868680" y="1847088"/>
            <a:ext cx="3749040" cy="4315968"/>
          </a:xfrm>
          <a:prstGeom prst="roundRect">
            <a:avLst>
              <a:gd name="adj" fmla="val 2927"/>
            </a:avLst>
          </a:prstGeom>
          <a:solidFill>
            <a:srgbClr val="FFFDF9"/>
          </a:solidFill>
          <a:ln w="12700">
            <a:solidFill>
              <a:srgbClr val="E9DBD0"/>
            </a:solidFill>
            <a:prstDash val="solid"/>
          </a:ln>
        </p:spPr>
      </p:sp>
      <p:sp>
        <p:nvSpPr>
          <p:cNvPr id="11" name="Text 9"/>
          <p:cNvSpPr/>
          <p:nvPr/>
        </p:nvSpPr>
        <p:spPr>
          <a:xfrm>
            <a:off x="1078992" y="2176272"/>
            <a:ext cx="1554480" cy="182880"/>
          </a:xfrm>
          <a:prstGeom prst="rect">
            <a:avLst/>
          </a:prstGeom>
          <a:noFill/>
        </p:spPr>
        <p:txBody>
          <a:bodyPr wrap="square" lIns="0" tIns="0" rIns="0" bIns="0" rtlCol="0" anchor="ctr"/>
          <a:lstStyle/>
          <a:p>
            <a:pPr marL="0" indent="0">
              <a:buNone/>
            </a:pPr>
            <a:r>
              <a:rPr lang="en-US" sz="1700" b="1" dirty="0">
                <a:solidFill>
                  <a:srgbClr val="5B4338"/>
                </a:solidFill>
                <a:latin typeface="Hiragino Sans GB" panose="020B0300000000000000" pitchFamily="34" charset="-122"/>
                <a:ea typeface="Hiragino Sans GB" panose="020B0300000000000000" pitchFamily="34" charset="-122"/>
                <a:cs typeface="Hiragino Sans GB" panose="020B0300000000000000" pitchFamily="34" charset="-120"/>
              </a:rPr>
              <a:t>为什么保留 Web 端</a:t>
            </a:r>
            <a:endParaRPr lang="en-US" sz="1700" dirty="0"/>
          </a:p>
        </p:txBody>
      </p:sp>
      <p:sp>
        <p:nvSpPr>
          <p:cNvPr id="12" name="Shape 10"/>
          <p:cNvSpPr/>
          <p:nvPr/>
        </p:nvSpPr>
        <p:spPr>
          <a:xfrm>
            <a:off x="1078992" y="2852928"/>
            <a:ext cx="91440" cy="91440"/>
          </a:xfrm>
          <a:prstGeom prst="ellipse">
            <a:avLst/>
          </a:prstGeom>
          <a:solidFill>
            <a:srgbClr val="C46467"/>
          </a:solidFill>
          <a:ln w="12700">
            <a:solidFill>
              <a:srgbClr val="C46467">
                <a:alpha val="0"/>
              </a:srgbClr>
            </a:solidFill>
            <a:prstDash val="solid"/>
          </a:ln>
        </p:spPr>
      </p:sp>
      <p:sp>
        <p:nvSpPr>
          <p:cNvPr id="13" name="Text 11"/>
          <p:cNvSpPr/>
          <p:nvPr/>
        </p:nvSpPr>
        <p:spPr>
          <a:xfrm>
            <a:off x="1243584" y="2743200"/>
            <a:ext cx="2743200" cy="566928"/>
          </a:xfrm>
          <a:prstGeom prst="rect">
            <a:avLst/>
          </a:prstGeom>
          <a:noFill/>
        </p:spPr>
        <p:txBody>
          <a:bodyPr wrap="square" lIns="0" tIns="0" rIns="0" bIns="0" rtlCol="0" anchor="ctr"/>
          <a:lstStyle/>
          <a:p>
            <a:pPr marL="0" indent="0">
              <a:buNone/>
            </a:pPr>
            <a:r>
              <a:rPr lang="en-US" sz="1100" dirty="0">
                <a:solidFill>
                  <a:srgbClr val="5B4338"/>
                </a:solidFill>
                <a:latin typeface="Hiragino Sans GB" panose="020B0300000000000000" pitchFamily="34" charset="-122"/>
                <a:ea typeface="Hiragino Sans GB" panose="020B0300000000000000" pitchFamily="34" charset="-122"/>
                <a:cs typeface="Hiragino Sans GB" panose="020B0300000000000000" pitchFamily="34" charset="-120"/>
              </a:rPr>
              <a:t>适合在旅程结束后做更精细的拖拽排版与内容整理。</a:t>
            </a:r>
            <a:endParaRPr lang="en-US" sz="1100" dirty="0"/>
          </a:p>
        </p:txBody>
      </p:sp>
      <p:sp>
        <p:nvSpPr>
          <p:cNvPr id="14" name="Shape 12"/>
          <p:cNvSpPr/>
          <p:nvPr/>
        </p:nvSpPr>
        <p:spPr>
          <a:xfrm>
            <a:off x="1078992" y="3675888"/>
            <a:ext cx="91440" cy="91440"/>
          </a:xfrm>
          <a:prstGeom prst="ellipse">
            <a:avLst/>
          </a:prstGeom>
          <a:solidFill>
            <a:srgbClr val="C46467"/>
          </a:solidFill>
          <a:ln w="12700">
            <a:solidFill>
              <a:srgbClr val="C46467">
                <a:alpha val="0"/>
              </a:srgbClr>
            </a:solidFill>
            <a:prstDash val="solid"/>
          </a:ln>
        </p:spPr>
      </p:sp>
      <p:sp>
        <p:nvSpPr>
          <p:cNvPr id="15" name="Text 13"/>
          <p:cNvSpPr/>
          <p:nvPr/>
        </p:nvSpPr>
        <p:spPr>
          <a:xfrm>
            <a:off x="1243584" y="3566160"/>
            <a:ext cx="2743200" cy="566928"/>
          </a:xfrm>
          <a:prstGeom prst="rect">
            <a:avLst/>
          </a:prstGeom>
          <a:noFill/>
        </p:spPr>
        <p:txBody>
          <a:bodyPr wrap="square" lIns="0" tIns="0" rIns="0" bIns="0" rtlCol="0" anchor="ctr"/>
          <a:lstStyle/>
          <a:p>
            <a:pPr marL="0" indent="0">
              <a:buNone/>
            </a:pPr>
            <a:r>
              <a:rPr lang="en-US" sz="1100" dirty="0">
                <a:solidFill>
                  <a:srgbClr val="5B4338"/>
                </a:solidFill>
                <a:latin typeface="Hiragino Sans GB" panose="020B0300000000000000" pitchFamily="34" charset="-122"/>
                <a:ea typeface="Hiragino Sans GB" panose="020B0300000000000000" pitchFamily="34" charset="-122"/>
                <a:cs typeface="Hiragino Sans GB" panose="020B0300000000000000" pitchFamily="34" charset="-120"/>
              </a:rPr>
              <a:t>能承接长文本、更多页面和更完整的纪念册整理需求。</a:t>
            </a:r>
            <a:endParaRPr lang="en-US" sz="1100" dirty="0"/>
          </a:p>
        </p:txBody>
      </p:sp>
      <p:sp>
        <p:nvSpPr>
          <p:cNvPr id="16" name="Shape 14"/>
          <p:cNvSpPr/>
          <p:nvPr/>
        </p:nvSpPr>
        <p:spPr>
          <a:xfrm>
            <a:off x="1078992" y="4498848"/>
            <a:ext cx="91440" cy="91440"/>
          </a:xfrm>
          <a:prstGeom prst="ellipse">
            <a:avLst/>
          </a:prstGeom>
          <a:solidFill>
            <a:srgbClr val="C46467"/>
          </a:solidFill>
          <a:ln w="12700">
            <a:solidFill>
              <a:srgbClr val="C46467">
                <a:alpha val="0"/>
              </a:srgbClr>
            </a:solidFill>
            <a:prstDash val="solid"/>
          </a:ln>
        </p:spPr>
      </p:sp>
      <p:sp>
        <p:nvSpPr>
          <p:cNvPr id="17" name="Text 15"/>
          <p:cNvSpPr/>
          <p:nvPr/>
        </p:nvSpPr>
        <p:spPr>
          <a:xfrm>
            <a:off x="1243584" y="4389120"/>
            <a:ext cx="2743200" cy="621792"/>
          </a:xfrm>
          <a:prstGeom prst="rect">
            <a:avLst/>
          </a:prstGeom>
          <a:noFill/>
        </p:spPr>
        <p:txBody>
          <a:bodyPr wrap="square" lIns="0" tIns="0" rIns="0" bIns="0" rtlCol="0" anchor="ctr"/>
          <a:lstStyle/>
          <a:p>
            <a:pPr marL="0" indent="0">
              <a:buNone/>
            </a:pPr>
            <a:r>
              <a:rPr lang="en-US" sz="1100" dirty="0">
                <a:solidFill>
                  <a:srgbClr val="5B4338"/>
                </a:solidFill>
                <a:latin typeface="Hiragino Sans GB" panose="020B0300000000000000" pitchFamily="34" charset="-122"/>
                <a:ea typeface="Hiragino Sans GB" panose="020B0300000000000000" pitchFamily="34" charset="-122"/>
                <a:cs typeface="Hiragino Sans GB" panose="020B0300000000000000" pitchFamily="34" charset="-120"/>
              </a:rPr>
              <a:t>主讲时可不展开，只在被追问“后续生产力场景”时使用。</a:t>
            </a:r>
            <a:endParaRPr lang="en-US" sz="1100" dirty="0"/>
          </a:p>
        </p:txBody>
      </p:sp>
      <p:sp>
        <p:nvSpPr>
          <p:cNvPr id="18" name="Shape 16"/>
          <p:cNvSpPr/>
          <p:nvPr/>
        </p:nvSpPr>
        <p:spPr>
          <a:xfrm>
            <a:off x="4892040" y="1901952"/>
            <a:ext cx="6391656" cy="4187952"/>
          </a:xfrm>
          <a:prstGeom prst="roundRect">
            <a:avLst>
              <a:gd name="adj" fmla="val 2620"/>
            </a:avLst>
          </a:prstGeom>
          <a:solidFill>
            <a:srgbClr val="FBF5EF"/>
          </a:solidFill>
          <a:ln w="12700">
            <a:solidFill>
              <a:srgbClr val="E9DBD0"/>
            </a:solidFill>
            <a:prstDash val="solid"/>
          </a:ln>
        </p:spPr>
      </p:sp>
      <p:pic>
        <p:nvPicPr>
          <p:cNvPr id="19" name="Image 0" descr="/Users/ronggang/code/funcode/yingji/docs/【项目介绍】印迹 Memoseal   -By HaiSnap/images/【项目介绍】印迹 Memoseal   -By HaiSnap-image-4.png"/>
          <p:cNvPicPr>
            <a:picLocks noChangeAspect="1"/>
          </p:cNvPicPr>
          <p:nvPr/>
        </p:nvPicPr>
        <p:blipFill>
          <a:blip r:embed="rId1"/>
          <a:srcRect/>
          <a:stretch>
            <a:fillRect/>
          </a:stretch>
        </p:blipFill>
        <p:spPr>
          <a:xfrm>
            <a:off x="5093208" y="2121408"/>
            <a:ext cx="5989320" cy="37490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0E8"/>
          </a:solidFill>
          <a:ln w="12700">
            <a:solidFill>
              <a:srgbClr val="F7F0E8">
                <a:alpha val="0"/>
              </a:srgbClr>
            </a:solidFill>
            <a:prstDash val="solid"/>
          </a:ln>
        </p:spPr>
        <p:txBody>
          <a:bodyPr/>
          <a:p>
            <a:r>
              <a:rPr lang="zh-CN" altLang="en-US" dirty="0">
                <a:solidFill>
                  <a:srgbClr val="5B4338"/>
                </a:solidFill>
                <a:latin typeface="Hiragino Sans GB" panose="020B0300000000000000" pitchFamily="34" charset="-122"/>
                <a:ea typeface="Hiragino Sans GB" panose="020B0300000000000000" pitchFamily="34" charset="-122"/>
                <a:cs typeface="Hiragino Sans GB" panose="020B0300000000000000" pitchFamily="34" charset="-120"/>
                <a:sym typeface="+mn-ea"/>
              </a:rPr>
              <a:t>️</a:t>
            </a:r>
            <a:endParaRPr lang="zh-CN" altLang="en-US"/>
          </a:p>
        </p:txBody>
      </p:sp>
      <p:sp>
        <p:nvSpPr>
          <p:cNvPr id="3" name="Shape 1"/>
          <p:cNvSpPr/>
          <p:nvPr/>
        </p:nvSpPr>
        <p:spPr>
          <a:xfrm>
            <a:off x="9784080" y="-822960"/>
            <a:ext cx="3474720" cy="2468880"/>
          </a:xfrm>
          <a:prstGeom prst="ellipse">
            <a:avLst/>
          </a:prstGeom>
          <a:solidFill>
            <a:srgbClr val="F0D7D2">
              <a:alpha val="42000"/>
            </a:srgbClr>
          </a:solidFill>
          <a:ln w="12700">
            <a:solidFill>
              <a:srgbClr val="F7F0E8">
                <a:alpha val="0"/>
              </a:srgbClr>
            </a:solidFill>
            <a:prstDash val="solid"/>
          </a:ln>
        </p:spPr>
      </p:sp>
      <p:sp>
        <p:nvSpPr>
          <p:cNvPr id="4" name="Shape 2"/>
          <p:cNvSpPr/>
          <p:nvPr/>
        </p:nvSpPr>
        <p:spPr>
          <a:xfrm>
            <a:off x="-731520" y="5577840"/>
            <a:ext cx="2743200" cy="1920240"/>
          </a:xfrm>
          <a:prstGeom prst="ellipse">
            <a:avLst/>
          </a:prstGeom>
          <a:solidFill>
            <a:srgbClr val="E9C8C0">
              <a:alpha val="28000"/>
            </a:srgbClr>
          </a:solidFill>
          <a:ln w="12700">
            <a:solidFill>
              <a:srgbClr val="F7F0E8">
                <a:alpha val="0"/>
              </a:srgbClr>
            </a:solidFill>
            <a:prstDash val="solid"/>
          </a:ln>
        </p:spPr>
      </p:sp>
      <p:sp>
        <p:nvSpPr>
          <p:cNvPr id="5" name="Shape 3"/>
          <p:cNvSpPr/>
          <p:nvPr/>
        </p:nvSpPr>
        <p:spPr>
          <a:xfrm>
            <a:off x="713232" y="612648"/>
            <a:ext cx="310896" cy="0"/>
          </a:xfrm>
          <a:prstGeom prst="line">
            <a:avLst/>
          </a:prstGeom>
          <a:noFill/>
          <a:ln w="12700">
            <a:solidFill>
              <a:srgbClr val="C46467"/>
            </a:solidFill>
            <a:prstDash val="solid"/>
          </a:ln>
        </p:spPr>
      </p:sp>
      <p:sp>
        <p:nvSpPr>
          <p:cNvPr id="6" name="Text 4"/>
          <p:cNvSpPr/>
          <p:nvPr/>
        </p:nvSpPr>
        <p:spPr>
          <a:xfrm>
            <a:off x="1069848" y="429768"/>
            <a:ext cx="4206240" cy="201168"/>
          </a:xfrm>
          <a:prstGeom prst="rect">
            <a:avLst/>
          </a:prstGeom>
          <a:noFill/>
        </p:spPr>
        <p:txBody>
          <a:bodyPr wrap="square" rtlCol="0" anchor="ctr"/>
          <a:lstStyle/>
          <a:p>
            <a:pPr marL="0" indent="0">
              <a:buNone/>
            </a:pPr>
            <a:r>
              <a:rPr lang="en-US" sz="900" b="1" dirty="0">
                <a:solidFill>
                  <a:srgbClr val="866F63"/>
                </a:solidFill>
                <a:latin typeface="Avenir Next" panose="020B0803020202020204" pitchFamily="34" charset="0"/>
                <a:ea typeface="Avenir Next" panose="020B0803020202020204" pitchFamily="34" charset="-122"/>
                <a:cs typeface="Avenir Next" panose="020B0803020202020204" pitchFamily="34" charset="-120"/>
              </a:rPr>
              <a:t>APPENDIX</a:t>
            </a:r>
            <a:endParaRPr lang="en-US" sz="900" dirty="0"/>
          </a:p>
        </p:txBody>
      </p:sp>
      <p:sp>
        <p:nvSpPr>
          <p:cNvPr id="7" name="Text 5"/>
          <p:cNvSpPr/>
          <p:nvPr/>
        </p:nvSpPr>
        <p:spPr>
          <a:xfrm>
            <a:off x="11155680" y="384048"/>
            <a:ext cx="329184" cy="219456"/>
          </a:xfrm>
          <a:prstGeom prst="rect">
            <a:avLst/>
          </a:prstGeom>
          <a:noFill/>
        </p:spPr>
        <p:txBody>
          <a:bodyPr wrap="square" rtlCol="0" anchor="ctr"/>
          <a:lstStyle/>
          <a:p>
            <a:pPr marL="0" indent="0" algn="r">
              <a:buNone/>
            </a:pPr>
            <a:r>
              <a:rPr lang="en-US" sz="1000" b="1" dirty="0">
                <a:solidFill>
                  <a:srgbClr val="C46467"/>
                </a:solidFill>
                <a:latin typeface="Avenir Next" panose="020B0803020202020204" pitchFamily="34" charset="0"/>
                <a:ea typeface="Avenir Next" panose="020B0803020202020204" pitchFamily="34" charset="-122"/>
                <a:cs typeface="Avenir Next" panose="020B0803020202020204" pitchFamily="34" charset="-120"/>
              </a:rPr>
              <a:t>08</a:t>
            </a:r>
            <a:endParaRPr lang="en-US" sz="1000" dirty="0"/>
          </a:p>
        </p:txBody>
      </p:sp>
      <p:sp>
        <p:nvSpPr>
          <p:cNvPr id="8" name="Text 6"/>
          <p:cNvSpPr/>
          <p:nvPr/>
        </p:nvSpPr>
        <p:spPr>
          <a:xfrm>
            <a:off x="822960" y="868680"/>
            <a:ext cx="8412480" cy="621792"/>
          </a:xfrm>
          <a:prstGeom prst="rect">
            <a:avLst/>
          </a:prstGeom>
          <a:noFill/>
        </p:spPr>
        <p:txBody>
          <a:bodyPr wrap="square" lIns="0" tIns="0" rIns="0" bIns="0" rtlCol="0" anchor="ctr"/>
          <a:lstStyle/>
          <a:p>
            <a:pPr marL="0" indent="0">
              <a:buNone/>
            </a:pPr>
            <a:r>
              <a:rPr lang="zh-CN" altLang="en-US" sz="4400" b="1" dirty="0">
                <a:solidFill>
                  <a:srgbClr val="5B4338"/>
                </a:solidFill>
                <a:latin typeface="Songti SC" panose="02010800040101010101" pitchFamily="34" charset="-122"/>
                <a:ea typeface="Songti SC" panose="02010800040101010101" pitchFamily="34" charset="-122"/>
                <a:cs typeface="Songti SC" panose="02010800040101010101" pitchFamily="34" charset="-120"/>
              </a:rPr>
              <a:t>致谢</a:t>
            </a:r>
            <a:endParaRPr lang="zh-CN" altLang="en-US" sz="4400" b="1" dirty="0">
              <a:solidFill>
                <a:srgbClr val="5B4338"/>
              </a:solidFill>
              <a:latin typeface="Songti SC" panose="02010800040101010101" pitchFamily="34" charset="-122"/>
              <a:ea typeface="Songti SC" panose="02010800040101010101" pitchFamily="34" charset="-122"/>
              <a:cs typeface="Songti SC" panose="02010800040101010101" pitchFamily="34" charset="-120"/>
            </a:endParaRPr>
          </a:p>
        </p:txBody>
      </p:sp>
      <p:sp>
        <p:nvSpPr>
          <p:cNvPr id="11" name="Shape 8"/>
          <p:cNvSpPr/>
          <p:nvPr/>
        </p:nvSpPr>
        <p:spPr>
          <a:xfrm>
            <a:off x="5486400" y="2359152"/>
            <a:ext cx="1783080" cy="2999232"/>
          </a:xfrm>
          <a:prstGeom prst="roundRect">
            <a:avLst>
              <a:gd name="adj" fmla="val 2927"/>
            </a:avLst>
          </a:prstGeom>
          <a:solidFill>
            <a:srgbClr val="FFFDF9"/>
          </a:solidFill>
          <a:ln w="12700">
            <a:solidFill>
              <a:srgbClr val="E4D8CE"/>
            </a:solidFill>
          </a:ln>
        </p:spPr>
      </p:sp>
      <p:sp>
        <p:nvSpPr>
          <p:cNvPr id="14" name="Shape 10"/>
          <p:cNvSpPr/>
          <p:nvPr/>
        </p:nvSpPr>
        <p:spPr>
          <a:xfrm>
            <a:off x="714756" y="2435352"/>
            <a:ext cx="91440" cy="91440"/>
          </a:xfrm>
          <a:prstGeom prst="ellipse">
            <a:avLst/>
          </a:prstGeom>
          <a:solidFill>
            <a:srgbClr val="C46467"/>
          </a:solidFill>
          <a:ln w="12700">
            <a:solidFill>
              <a:srgbClr val="C46467"/>
            </a:solidFill>
          </a:ln>
        </p:spPr>
      </p:sp>
      <p:sp>
        <p:nvSpPr>
          <p:cNvPr id="15" name="Text 11"/>
          <p:cNvSpPr/>
          <p:nvPr/>
        </p:nvSpPr>
        <p:spPr>
          <a:xfrm>
            <a:off x="939165" y="2221865"/>
            <a:ext cx="4613910" cy="2200910"/>
          </a:xfrm>
          <a:prstGeom prst="rect">
            <a:avLst/>
          </a:prstGeom>
          <a:noFill/>
        </p:spPr>
        <p:txBody>
          <a:bodyPr wrap="square" lIns="0" tIns="0" rIns="0" bIns="0" rtlCol="0" anchor="t">
            <a:spAutoFit/>
          </a:bodyPr>
          <a:lstStyle/>
          <a:p>
            <a:pPr marL="0" indent="0">
              <a:lnSpc>
                <a:spcPct val="118000"/>
              </a:lnSpc>
              <a:buNone/>
            </a:pPr>
            <a:r>
              <a:rPr lang="zh-CN" altLang="en-US" sz="2400" b="1" dirty="0">
                <a:solidFill>
                  <a:srgbClr val="5B4338"/>
                </a:solidFill>
                <a:latin typeface="Hiragino Sans GB" panose="020B0300000000000000" pitchFamily="34" charset="-122"/>
                <a:ea typeface="Hiragino Sans GB" panose="020B0300000000000000" pitchFamily="34" charset="-122"/>
                <a:cs typeface="Hiragino Sans GB" panose="020B0300000000000000" pitchFamily="34" charset="-122"/>
              </a:rPr>
              <a:t>最后，就分享到这里。</a:t>
            </a:r>
            <a:endParaRPr lang="zh-CN" altLang="en-US" sz="2400" b="1" dirty="0">
              <a:solidFill>
                <a:srgbClr val="5B4338"/>
              </a:solidFill>
              <a:latin typeface="Hiragino Sans GB" panose="020B0300000000000000" pitchFamily="34" charset="-122"/>
              <a:ea typeface="Hiragino Sans GB" panose="020B0300000000000000" pitchFamily="34" charset="-122"/>
              <a:cs typeface="Hiragino Sans GB" panose="020B0300000000000000" pitchFamily="34" charset="-122"/>
            </a:endParaRPr>
          </a:p>
          <a:p>
            <a:pPr marL="0" indent="0">
              <a:lnSpc>
                <a:spcPct val="198000"/>
              </a:lnSpc>
              <a:buNone/>
            </a:pPr>
            <a:r>
              <a:rPr lang="zh-CN" altLang="en-US" sz="1900" dirty="0">
                <a:solidFill>
                  <a:srgbClr val="5B4338"/>
                </a:solidFill>
                <a:latin typeface="Hiragino Sans GB" panose="020B0300000000000000" pitchFamily="34" charset="-122"/>
                <a:ea typeface="Hiragino Sans GB" panose="020B0300000000000000" pitchFamily="34" charset="-122"/>
                <a:cs typeface="Hiragino Sans GB" panose="020B0300000000000000" pitchFamily="34" charset="-122"/>
              </a:rPr>
              <a:t>感谢本次活动的各位主办方，特别感谢</a:t>
            </a:r>
            <a:endParaRPr lang="zh-CN" altLang="en-US" sz="1900" dirty="0">
              <a:solidFill>
                <a:srgbClr val="5B4338"/>
              </a:solidFill>
              <a:latin typeface="Hiragino Sans GB" panose="020B0300000000000000" pitchFamily="34" charset="-122"/>
              <a:ea typeface="Hiragino Sans GB" panose="020B0300000000000000" pitchFamily="34" charset="-122"/>
              <a:cs typeface="Hiragino Sans GB" panose="020B0300000000000000" pitchFamily="34" charset="-122"/>
            </a:endParaRPr>
          </a:p>
          <a:p>
            <a:pPr marL="0" indent="0">
              <a:lnSpc>
                <a:spcPct val="198000"/>
              </a:lnSpc>
              <a:buNone/>
            </a:pPr>
            <a:r>
              <a:rPr lang="zh-CN" altLang="en-US" sz="2000" b="1" dirty="0">
                <a:solidFill>
                  <a:srgbClr val="C46467"/>
                </a:solidFill>
                <a:latin typeface="Hiragino Sans GB" panose="020B0300000000000000" pitchFamily="34" charset="-122"/>
                <a:ea typeface="Hiragino Sans GB" panose="020B0300000000000000" pitchFamily="34" charset="-122"/>
                <a:cs typeface="Hiragino Sans GB" panose="020B0300000000000000" pitchFamily="34" charset="-122"/>
              </a:rPr>
              <a:t>北京 AI 原点社区</a:t>
            </a:r>
            <a:r>
              <a:rPr lang="zh-CN" altLang="en-US" dirty="0">
                <a:solidFill>
                  <a:srgbClr val="5B4338"/>
                </a:solidFill>
                <a:latin typeface="Hiragino Sans GB" panose="020B0300000000000000" pitchFamily="34" charset="-122"/>
                <a:ea typeface="Hiragino Sans GB" panose="020B0300000000000000" pitchFamily="34" charset="-122"/>
                <a:cs typeface="Hiragino Sans GB" panose="020B0300000000000000" pitchFamily="34" charset="-122"/>
              </a:rPr>
              <a:t>与</a:t>
            </a:r>
            <a:r>
              <a:rPr lang="en-US" altLang="en-US" sz="2000" b="1" dirty="0">
                <a:solidFill>
                  <a:srgbClr val="C46467"/>
                </a:solidFill>
                <a:latin typeface="Hiragino Sans GB" panose="020B0300000000000000" pitchFamily="34" charset="-122"/>
                <a:ea typeface="Hiragino Sans GB" panose="020B0300000000000000" pitchFamily="34" charset="-122"/>
                <a:cs typeface="Hiragino Sans GB" panose="020B0300000000000000" pitchFamily="34" charset="-122"/>
              </a:rPr>
              <a:t>HaiSnap 响指平台</a:t>
            </a:r>
            <a:endParaRPr lang="en-US" altLang="en-US" sz="2000" b="1" dirty="0">
              <a:solidFill>
                <a:srgbClr val="C46467"/>
              </a:solidFill>
              <a:latin typeface="Hiragino Sans GB" panose="020B0300000000000000" pitchFamily="34" charset="-122"/>
              <a:ea typeface="Hiragino Sans GB" panose="020B0300000000000000" pitchFamily="34" charset="-122"/>
              <a:cs typeface="Hiragino Sans GB" panose="020B0300000000000000" pitchFamily="34" charset="-122"/>
            </a:endParaRPr>
          </a:p>
          <a:p>
            <a:pPr marL="0" indent="0">
              <a:lnSpc>
                <a:spcPct val="198000"/>
              </a:lnSpc>
              <a:buNone/>
            </a:pPr>
            <a:r>
              <a:rPr lang="zh-CN" altLang="en-US" sz="1900" dirty="0">
                <a:solidFill>
                  <a:srgbClr val="5B4338"/>
                </a:solidFill>
                <a:latin typeface="Hiragino Sans GB" panose="020B0300000000000000" pitchFamily="34" charset="-122"/>
                <a:ea typeface="Hiragino Sans GB" panose="020B0300000000000000" pitchFamily="34" charset="-122"/>
                <a:cs typeface="Hiragino Sans GB" panose="020B0300000000000000" pitchFamily="34" charset="-122"/>
              </a:rPr>
              <a:t>为我们提供了快速搭建产品原型的支持。</a:t>
            </a:r>
            <a:endParaRPr lang="zh-CN" altLang="en-US" sz="1900" dirty="0">
              <a:solidFill>
                <a:srgbClr val="5B4338"/>
              </a:solidFill>
              <a:latin typeface="Hiragino Sans GB" panose="020B0300000000000000" pitchFamily="34" charset="-122"/>
              <a:ea typeface="Hiragino Sans GB" panose="020B0300000000000000" pitchFamily="34" charset="-122"/>
              <a:cs typeface="Hiragino Sans GB" panose="020B0300000000000000" pitchFamily="34" charset="-122"/>
            </a:endParaRPr>
          </a:p>
        </p:txBody>
      </p:sp>
      <p:sp>
        <p:nvSpPr>
          <p:cNvPr id="16" name="Shape 16"/>
          <p:cNvSpPr/>
          <p:nvPr/>
        </p:nvSpPr>
        <p:spPr>
          <a:xfrm>
            <a:off x="7571232" y="1993392"/>
            <a:ext cx="3730752" cy="3913632"/>
          </a:xfrm>
          <a:prstGeom prst="roundRect">
            <a:avLst>
              <a:gd name="adj" fmla="val 2620"/>
            </a:avLst>
          </a:prstGeom>
          <a:solidFill>
            <a:srgbClr val="FFFDF9"/>
          </a:solidFill>
          <a:ln w="12700">
            <a:solidFill>
              <a:srgbClr val="E4D8CE"/>
            </a:solidFill>
          </a:ln>
        </p:spPr>
      </p:sp>
      <p:pic>
        <p:nvPicPr>
          <p:cNvPr id="17" name="图片 16" descr="image (9)"/>
          <p:cNvPicPr>
            <a:picLocks noChangeAspect="1"/>
          </p:cNvPicPr>
          <p:nvPr/>
        </p:nvPicPr>
        <p:blipFill>
          <a:blip r:embed="rId1"/>
          <a:stretch>
            <a:fillRect/>
          </a:stretch>
        </p:blipFill>
        <p:spPr>
          <a:xfrm>
            <a:off x="7772400" y="2194560"/>
            <a:ext cx="3328416" cy="3328416"/>
          </a:xfrm>
          <a:prstGeom prst="rect">
            <a:avLst/>
          </a:prstGeom>
        </p:spPr>
      </p:pic>
      <p:sp>
        <p:nvSpPr>
          <p:cNvPr id="25" name="文本框 24"/>
          <p:cNvSpPr txBox="1"/>
          <p:nvPr/>
        </p:nvSpPr>
        <p:spPr>
          <a:xfrm>
            <a:off x="850900" y="1426464"/>
            <a:ext cx="2926080" cy="219456"/>
          </a:xfrm>
          <a:prstGeom prst="rect">
            <a:avLst/>
          </a:prstGeom>
          <a:noFill/>
        </p:spPr>
        <p:txBody>
          <a:bodyPr wrap="square" lIns="0" tIns="0" rIns="0" bIns="0" rtlCol="0" anchor="t">
            <a:noAutofit/>
          </a:bodyPr>
          <a:lstStyle/>
          <a:p>
            <a:pPr marL="0" indent="0">
              <a:lnSpc>
                <a:spcPct val="100000"/>
              </a:lnSpc>
              <a:buNone/>
            </a:pPr>
            <a:r>
              <a:rPr lang="en-US" altLang="en-US" sz="900" b="1" dirty="0">
                <a:solidFill>
                  <a:srgbClr val="C46467"/>
                </a:solidFill>
                <a:latin typeface="Avenir Next" panose="020B0803020202020204"/>
                <a:ea typeface="Avenir Next" panose="020B0803020202020204"/>
                <a:cs typeface="Avenir Next" panose="020B0803020202020204"/>
              </a:rPr>
              <a:t>THANKS FOR LISTENING</a:t>
            </a:r>
            <a:endParaRPr lang="en-US" altLang="en-US" sz="900" b="1" dirty="0">
              <a:solidFill>
                <a:srgbClr val="C46467"/>
              </a:solidFill>
              <a:latin typeface="Avenir Next" panose="020B0803020202020204"/>
              <a:ea typeface="Avenir Next" panose="020B0803020202020204"/>
              <a:cs typeface="Avenir Next" panose="020B0803020202020204"/>
            </a:endParaRPr>
          </a:p>
        </p:txBody>
      </p:sp>
      <p:pic>
        <p:nvPicPr>
          <p:cNvPr id="26" name="图片 25"/>
          <p:cNvPicPr>
            <a:picLocks noChangeAspect="1"/>
          </p:cNvPicPr>
          <p:nvPr/>
        </p:nvPicPr>
        <p:blipFill>
          <a:blip r:embed="rId2"/>
          <a:stretch>
            <a:fillRect/>
          </a:stretch>
        </p:blipFill>
        <p:spPr>
          <a:xfrm>
            <a:off x="5641848" y="2523744"/>
            <a:ext cx="1472184" cy="2587752"/>
          </a:xfrm>
          <a:prstGeom prst="rect">
            <a:avLst/>
          </a:prstGeom>
        </p:spPr>
      </p:pic>
      <p:sp>
        <p:nvSpPr>
          <p:cNvPr id="27" name="Text 11"/>
          <p:cNvSpPr/>
          <p:nvPr/>
        </p:nvSpPr>
        <p:spPr>
          <a:xfrm>
            <a:off x="5577840" y="5074920"/>
            <a:ext cx="1600200" cy="219456"/>
          </a:xfrm>
          <a:prstGeom prst="rect">
            <a:avLst/>
          </a:prstGeom>
          <a:noFill/>
        </p:spPr>
        <p:txBody>
          <a:bodyPr wrap="square" lIns="0" tIns="0" rIns="0" bIns="0" rtlCol="0" anchor="ctr">
            <a:spAutoFit/>
          </a:bodyPr>
          <a:lstStyle/>
          <a:p>
            <a:pPr marL="0" indent="0" algn="ctr">
              <a:lnSpc>
                <a:spcPct val="100000"/>
              </a:lnSpc>
              <a:buNone/>
            </a:pPr>
            <a:r>
              <a:rPr lang="en-US" altLang="en-US" sz="1050" dirty="0">
                <a:solidFill>
                  <a:srgbClr val="5B4338"/>
                </a:solidFill>
                <a:latin typeface="Hiragino Sans GB" panose="020B0300000000000000" pitchFamily="34" charset="-122"/>
                <a:ea typeface="Hiragino Sans GB" panose="020B0300000000000000" pitchFamily="34" charset="-122"/>
                <a:cs typeface="Hiragino Sans GB" panose="020B0300000000000000" pitchFamily="34" charset="-122"/>
              </a:rPr>
              <a:t>Memoseal 产品原型</a:t>
            </a:r>
            <a:endParaRPr lang="en-US" altLang="en-US" sz="1050" dirty="0">
              <a:solidFill>
                <a:srgbClr val="5B4338"/>
              </a:solidFill>
              <a:latin typeface="Hiragino Sans GB" panose="020B0300000000000000" pitchFamily="34" charset="-122"/>
              <a:ea typeface="Hiragino Sans GB" panose="020B0300000000000000" pitchFamily="34" charset="-122"/>
              <a:cs typeface="Hiragino Sans GB" panose="020B0300000000000000" pitchFamily="34" charset="-122"/>
            </a:endParaRPr>
          </a:p>
        </p:txBody>
      </p:sp>
      <p:sp>
        <p:nvSpPr>
          <p:cNvPr id="28" name="Text 11"/>
          <p:cNvSpPr/>
          <p:nvPr/>
        </p:nvSpPr>
        <p:spPr>
          <a:xfrm>
            <a:off x="8351520" y="5352415"/>
            <a:ext cx="2147570" cy="567055"/>
          </a:xfrm>
          <a:prstGeom prst="rect">
            <a:avLst/>
          </a:prstGeom>
          <a:noFill/>
        </p:spPr>
        <p:txBody>
          <a:bodyPr wrap="square" lIns="0" tIns="0" rIns="0" bIns="0" rtlCol="0" anchor="ctr"/>
          <a:lstStyle/>
          <a:p>
            <a:pPr marL="0" indent="0">
              <a:buNone/>
            </a:pPr>
            <a:r>
              <a:rPr lang="en-US" sz="1100" dirty="0">
                <a:solidFill>
                  <a:srgbClr val="5B4338"/>
                </a:solidFill>
                <a:latin typeface="Hiragino Sans GB" panose="020B0300000000000000" pitchFamily="34" charset="-122"/>
                <a:ea typeface="Hiragino Sans GB" panose="020B0300000000000000" pitchFamily="34" charset="-122"/>
                <a:cs typeface="Hiragino Sans GB" panose="020B0300000000000000" pitchFamily="34" charset="-120"/>
              </a:rPr>
              <a:t>这里也拿我们的产品整了个活  </a:t>
            </a:r>
            <a:endParaRPr lang="zh-CN" altLang="en-US" sz="3200" dirty="0">
              <a:solidFill>
                <a:srgbClr val="5B4338"/>
              </a:solidFill>
              <a:latin typeface="Hiragino Sans GB" panose="020B0300000000000000" pitchFamily="34" charset="-122"/>
              <a:ea typeface="Hiragino Sans GB" panose="020B0300000000000000" pitchFamily="34" charset="-122"/>
              <a:cs typeface="Hiragino Sans GB" panose="020B0300000000000000" pitchFamily="34" charset="-120"/>
            </a:endParaRPr>
          </a:p>
        </p:txBody>
      </p:sp>
      <p:sp>
        <p:nvSpPr>
          <p:cNvPr id="29" name="文本框 28"/>
          <p:cNvSpPr txBox="1"/>
          <p:nvPr/>
        </p:nvSpPr>
        <p:spPr>
          <a:xfrm>
            <a:off x="10137140" y="5236845"/>
            <a:ext cx="475615" cy="567055"/>
          </a:xfrm>
          <a:prstGeom prst="rect">
            <a:avLst/>
          </a:prstGeom>
          <a:noFill/>
        </p:spPr>
        <p:txBody>
          <a:bodyPr wrap="square" rtlCol="0" anchor="t">
            <a:noAutofit/>
          </a:bodyPr>
          <a:p>
            <a:r>
              <a:rPr lang="zh-CN" altLang="en-US" sz="3200" dirty="0">
                <a:solidFill>
                  <a:srgbClr val="5B4338"/>
                </a:solidFill>
                <a:latin typeface="Hiragino Sans GB" panose="020B0300000000000000" pitchFamily="34" charset="-122"/>
                <a:ea typeface="Hiragino Sans GB" panose="020B0300000000000000" pitchFamily="34" charset="-122"/>
                <a:cs typeface="Hiragino Sans GB" panose="020B0300000000000000" pitchFamily="34" charset="-120"/>
                <a:sym typeface="+mn-ea"/>
              </a:rPr>
              <a:t>⬆️</a:t>
            </a:r>
            <a:endParaRPr lang="zh-CN" altLang="en-US" sz="3200" dirty="0">
              <a:solidFill>
                <a:srgbClr val="5B4338"/>
              </a:solidFill>
              <a:latin typeface="Hiragino Sans GB" panose="020B0300000000000000" pitchFamily="34" charset="-122"/>
              <a:ea typeface="Hiragino Sans GB" panose="020B0300000000000000" pitchFamily="34" charset="-122"/>
              <a:cs typeface="Hiragino Sans GB" panose="020B0300000000000000" pitchFamily="34" charset="-120"/>
              <a:sym typeface="+mn-ea"/>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ongti S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Hiragino Sans GB"/>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ongti S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Hiragino Sans GB"/>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2247</Words>
  <Application>WPS 演示</Application>
  <PresentationFormat>On-screen Show (16:9)</PresentationFormat>
  <Paragraphs>257</Paragraphs>
  <Slides>9</Slides>
  <Notes>8</Notes>
  <HiddenSlides>0</HiddenSlides>
  <MMClips>0</MMClips>
  <ScaleCrop>false</ScaleCrop>
  <HeadingPairs>
    <vt:vector size="6" baseType="variant">
      <vt:variant>
        <vt:lpstr>已用的字体</vt:lpstr>
      </vt:variant>
      <vt:variant>
        <vt:i4>24</vt:i4>
      </vt:variant>
      <vt:variant>
        <vt:lpstr>主题</vt:lpstr>
      </vt:variant>
      <vt:variant>
        <vt:i4>1</vt:i4>
      </vt:variant>
      <vt:variant>
        <vt:lpstr>幻灯片标题</vt:lpstr>
      </vt:variant>
      <vt:variant>
        <vt:i4>9</vt:i4>
      </vt:variant>
    </vt:vector>
  </HeadingPairs>
  <TitlesOfParts>
    <vt:vector size="34" baseType="lpstr">
      <vt:lpstr>Arial</vt:lpstr>
      <vt:lpstr>宋体</vt:lpstr>
      <vt:lpstr>Wingdings</vt:lpstr>
      <vt:lpstr>Avenir Next</vt:lpstr>
      <vt:lpstr>Avenir Next</vt:lpstr>
      <vt:lpstr>Avenir Next</vt:lpstr>
      <vt:lpstr>Songti SC</vt:lpstr>
      <vt:lpstr>Songti SC</vt:lpstr>
      <vt:lpstr>Hiragino Sans GB</vt:lpstr>
      <vt:lpstr>Hiragino Sans GB</vt:lpstr>
      <vt:lpstr>Hiragino Sans GB W6</vt:lpstr>
      <vt:lpstr>Yuanti SC Regular</vt:lpstr>
      <vt:lpstr>汉仪书宋二KW</vt:lpstr>
      <vt:lpstr>宋体</vt:lpstr>
      <vt:lpstr>微软雅黑</vt:lpstr>
      <vt:lpstr>汉仪旗黑</vt:lpstr>
      <vt:lpstr>Arial Unicode MS</vt:lpstr>
      <vt:lpstr>Calibri</vt:lpstr>
      <vt:lpstr>Helvetica Neue</vt:lpstr>
      <vt:lpstr>等线</vt:lpstr>
      <vt:lpstr>汉仪中等线KW</vt:lpstr>
      <vt:lpstr>Adelle Sans Devanagari</vt:lpstr>
      <vt:lpstr>Apple Color Emoji</vt:lpstr>
      <vt:lpstr>Avenir Next</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Memoseal</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印迹 Memoseal 用户价值版</dc:title>
  <dc:creator>OpenAI Codex</dc:creator>
  <dc:subject>印迹 Memoseal 用户价值版</dc:subject>
  <cp:lastModifiedBy>ronggang</cp:lastModifiedBy>
  <cp:revision>5</cp:revision>
  <dcterms:created xsi:type="dcterms:W3CDTF">2026-03-28T16:09:53Z</dcterms:created>
  <dcterms:modified xsi:type="dcterms:W3CDTF">2026-03-28T16:09:53Z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2052-12.1.24031.24031</vt:lpwstr>
  </property>
  <property fmtid="{D5CDD505-2E9C-101B-9397-08002B2CF9AE}" pid="3" name="ICV">
    <vt:lpwstr>5075FBA92CF21C1410F7C7694403FCE1_42</vt:lpwstr>
  </property>
</Properties>
</file>