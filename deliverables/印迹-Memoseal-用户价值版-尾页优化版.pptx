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64" r:id="rId3"/>
    <p:sldId id="265" r:id="rId5"/>
    <p:sldId id="266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建议时长：20 秒，可选
这一页是备选附录，不一定在 4 分钟主讲里使用。它主要回答一个问题：如果用户回到家以后，还想把旅行内容做得更完整怎么办。答案是用 Web 端承接更重度的编辑和排版，让移动端负责轻创作、Web 端负责深编辑，两者一起把旅行记忆沉淀得更完整。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建议时长：35 秒
印迹的商业化不应该只停留在按次生成收费。更合理的路径是，先把旅行内容做出来，再把内容带入消费。C 端可以承接高级模板、导出和实体周边，B 端可以承接景区数字集章、商家打卡合作和目的地传播内容供给。它的关键不是‘卖一张图’，而是持续积累地点、记忆和审美表达叠加在一起的内容资产。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建议时长：30 秒
我们认为现在值得继续做，原因有三个。第一，AI 生成和轻量后处理已经足够成熟。第二，集章、手帐和旅行分享天然连通，场景需求不是硬造出来的。第三，项目已经完成了从 React 前端、FastAPI 后端到首页与地图展示的工程验证，所以进入的是产品验证阶段，而不是单纯的技术实验。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8"/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/>
          </a:p>
        </p:txBody>
      </p:sp>
      <p:sp>
        <p:nvSpPr>
          <p:cNvPr id="3" name="Shape 1"/>
          <p:cNvSpPr/>
          <p:nvPr/>
        </p:nvSpPr>
        <p:spPr>
          <a:xfrm>
            <a:off x="9784080" y="-822960"/>
            <a:ext cx="3474720" cy="2468880"/>
          </a:xfrm>
          <a:prstGeom prst="ellipse">
            <a:avLst/>
          </a:prstGeom>
          <a:solidFill>
            <a:srgbClr val="F0D7D2">
              <a:alpha val="42000"/>
            </a:srgbClr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577840"/>
            <a:ext cx="2743200" cy="1920240"/>
          </a:xfrm>
          <a:prstGeom prst="ellipse">
            <a:avLst/>
          </a:prstGeom>
          <a:solidFill>
            <a:srgbClr val="E9C8C0">
              <a:alpha val="28000"/>
            </a:srgbClr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612648"/>
            <a:ext cx="310896" cy="0"/>
          </a:xfrm>
          <a:prstGeom prst="line">
            <a:avLst/>
          </a:prstGeom>
          <a:noFill/>
          <a:ln w="12700">
            <a:solidFill>
              <a:srgbClr val="C464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9848" y="429768"/>
            <a:ext cx="42062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66F63"/>
                </a:solidFill>
                <a:latin typeface="Avenir Next" panose="020B0803020202020204" pitchFamily="34" charset="0"/>
                <a:ea typeface="Avenir Next" panose="020B0803020202020204" pitchFamily="34" charset="-122"/>
                <a:cs typeface="Avenir Next" panose="020B0803020202020204" pitchFamily="34" charset="-120"/>
              </a:rPr>
              <a:t>APPENDIX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384048"/>
            <a:ext cx="32918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46467"/>
                </a:solidFill>
                <a:latin typeface="Avenir Next" panose="020B0803020202020204" pitchFamily="34" charset="0"/>
                <a:ea typeface="Avenir Next" panose="020B0803020202020204" pitchFamily="34" charset="-122"/>
                <a:cs typeface="Avenir Next" panose="020B0803020202020204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841248"/>
            <a:ext cx="384048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5000" b="1" dirty="0">
                <a:solidFill>
                  <a:srgbClr val="5B4338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致谢</a:t>
            </a:r>
            <a:endParaRPr lang="zh-CN" altLang="en-US" sz="5000" b="1" dirty="0">
              <a:solidFill>
                <a:srgbClr val="5B4338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0" y="2359152"/>
            <a:ext cx="1783080" cy="2999232"/>
          </a:xfrm>
          <a:prstGeom prst="roundRect">
            <a:avLst>
              <a:gd name="adj" fmla="val 2927"/>
            </a:avLst>
          </a:prstGeom>
          <a:solidFill>
            <a:srgbClr val="FFFDF9"/>
          </a:solidFill>
          <a:ln w="12700">
            <a:solidFill>
              <a:srgbClr val="E4D8CE"/>
            </a:solidFill>
          </a:ln>
        </p:spPr>
      </p:sp>
      <p:sp>
        <p:nvSpPr>
          <p:cNvPr id="12" name="Shape 10"/>
          <p:cNvSpPr/>
          <p:nvPr/>
        </p:nvSpPr>
        <p:spPr>
          <a:xfrm>
            <a:off x="905256" y="2130552"/>
            <a:ext cx="91440" cy="91440"/>
          </a:xfrm>
          <a:prstGeom prst="ellipse">
            <a:avLst/>
          </a:prstGeom>
          <a:solidFill>
            <a:srgbClr val="C46467"/>
          </a:solidFill>
          <a:ln w="12700">
            <a:solidFill>
              <a:srgbClr val="C46467"/>
            </a:solidFill>
          </a:ln>
        </p:spPr>
      </p:sp>
      <p:sp>
        <p:nvSpPr>
          <p:cNvPr id="13" name="Text 11"/>
          <p:cNvSpPr/>
          <p:nvPr/>
        </p:nvSpPr>
        <p:spPr>
          <a:xfrm>
            <a:off x="1078992" y="1993392"/>
            <a:ext cx="4096512" cy="23774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18000"/>
              </a:lnSpc>
              <a:buNone/>
            </a:pPr>
            <a:r>
              <a:rPr lang="zh-CN" altLang="en-US" sz="2400" b="1" dirty="0">
                <a:solidFill>
                  <a:srgbClr val="5B43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最后，就分享到这里。</a:t>
            </a:r>
            <a:endParaRPr lang="zh-CN" altLang="en-US" sz="2400" b="1" dirty="0">
              <a:solidFill>
                <a:srgbClr val="5B43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zh-CN" altLang="en-US" sz="1900" dirty="0">
                <a:solidFill>
                  <a:srgbClr val="5B43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感谢本次活动的各位主办方，特别感谢</a:t>
            </a:r>
            <a:endParaRPr lang="zh-CN" altLang="en-US" sz="1900" dirty="0">
              <a:solidFill>
                <a:srgbClr val="5B43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zh-CN" altLang="en-US" sz="2000" b="1" dirty="0">
                <a:solidFill>
                  <a:srgbClr val="C4646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北京 AI 原点社区</a:t>
            </a:r>
            <a:r>
              <a:rPr lang="zh-CN" altLang="en-US" sz="1900" dirty="0">
                <a:solidFill>
                  <a:srgbClr val="5B43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与</a:t>
            </a:r>
            <a:r>
              <a:rPr lang="en-US" altLang="en-US" sz="2000" b="1" dirty="0">
                <a:solidFill>
                  <a:srgbClr val="C4646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HaiSnap 响指平台</a:t>
            </a:r>
            <a:endParaRPr lang="en-US" altLang="en-US" sz="2000" b="1" dirty="0">
              <a:solidFill>
                <a:srgbClr val="C4646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zh-CN" altLang="en-US" sz="1900" dirty="0">
                <a:solidFill>
                  <a:srgbClr val="5B43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为我们提供了快速搭建产品原型的支持。</a:t>
            </a:r>
            <a:endParaRPr lang="zh-CN" altLang="en-US" sz="1900" dirty="0">
              <a:solidFill>
                <a:srgbClr val="5B43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571232" y="1993392"/>
            <a:ext cx="3730752" cy="3913632"/>
          </a:xfrm>
          <a:prstGeom prst="roundRect">
            <a:avLst>
              <a:gd name="adj" fmla="val 2620"/>
            </a:avLst>
          </a:prstGeom>
          <a:solidFill>
            <a:srgbClr val="FFFDF9"/>
          </a:solidFill>
          <a:ln w="12700">
            <a:solidFill>
              <a:srgbClr val="E4D8CE"/>
            </a:solidFill>
          </a:ln>
        </p:spPr>
      </p:sp>
      <p:pic>
        <p:nvPicPr>
          <p:cNvPr id="20" name="图片 19" descr="image (9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194560"/>
            <a:ext cx="3328416" cy="3328416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7863840" y="5513832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altLang="en-US" sz="1050" dirty="0">
                <a:solidFill>
                  <a:srgbClr val="5B43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HaiSnap 现场原型</a:t>
            </a:r>
            <a:endParaRPr lang="en-US" altLang="en-US" sz="1050" dirty="0">
              <a:solidFill>
                <a:srgbClr val="5B43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14400" y="1426464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en-US" sz="900" b="1" dirty="0">
                <a:solidFill>
                  <a:srgbClr val="C46467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THANKS FOR LISTENING</a:t>
            </a:r>
            <a:endParaRPr lang="en-US" altLang="en-US" sz="900" b="1" dirty="0">
              <a:solidFill>
                <a:srgbClr val="C46467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2523744"/>
            <a:ext cx="1472184" cy="2587752"/>
          </a:xfrm>
          <a:prstGeom prst="rect">
            <a:avLst/>
          </a:prstGeom>
        </p:spPr>
      </p:pic>
      <p:sp>
        <p:nvSpPr>
          <p:cNvPr id="24" name="Text 11"/>
          <p:cNvSpPr/>
          <p:nvPr/>
        </p:nvSpPr>
        <p:spPr>
          <a:xfrm>
            <a:off x="5577840" y="5074920"/>
            <a:ext cx="16002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altLang="en-US" sz="1050" dirty="0">
                <a:solidFill>
                  <a:srgbClr val="5B43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Memoseal 产品原型</a:t>
            </a:r>
            <a:endParaRPr lang="en-US" altLang="en-US" sz="1050" dirty="0">
              <a:solidFill>
                <a:srgbClr val="5B43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8"/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822960"/>
            <a:ext cx="3474720" cy="2468880"/>
          </a:xfrm>
          <a:prstGeom prst="ellipse">
            <a:avLst/>
          </a:prstGeom>
          <a:solidFill>
            <a:srgbClr val="F0D7D2">
              <a:alpha val="42000"/>
            </a:srgbClr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577840"/>
            <a:ext cx="2743200" cy="1920240"/>
          </a:xfrm>
          <a:prstGeom prst="ellipse">
            <a:avLst/>
          </a:prstGeom>
          <a:solidFill>
            <a:srgbClr val="E9C8C0">
              <a:alpha val="28000"/>
            </a:srgbClr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612648"/>
            <a:ext cx="310896" cy="0"/>
          </a:xfrm>
          <a:prstGeom prst="line">
            <a:avLst/>
          </a:prstGeom>
          <a:noFill/>
          <a:ln w="12700">
            <a:solidFill>
              <a:srgbClr val="C464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9848" y="429768"/>
            <a:ext cx="42062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66F63"/>
                </a:solidFill>
                <a:latin typeface="Avenir Next" panose="020B0803020202020204" pitchFamily="34" charset="0"/>
                <a:ea typeface="Avenir Next" panose="020B0803020202020204" pitchFamily="34" charset="-122"/>
                <a:cs typeface="Avenir Next" panose="020B0803020202020204" pitchFamily="34" charset="-120"/>
              </a:rPr>
              <a:t>BUSINESS LOOP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384048"/>
            <a:ext cx="32918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46467"/>
                </a:solidFill>
                <a:latin typeface="Avenir Next" panose="020B0803020202020204" pitchFamily="34" charset="0"/>
                <a:ea typeface="Avenir Next" panose="020B0803020202020204" pitchFamily="34" charset="-122"/>
                <a:cs typeface="Avenir Next" panose="020B0803020202020204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868680"/>
            <a:ext cx="96926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B4338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pitchFamily="34" charset="-120"/>
              </a:rPr>
              <a:t>印迹不是只卖生成次数，而是具备从内容到消费的延展路径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1527048"/>
            <a:ext cx="74980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6F6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pitchFamily="34" charset="-120"/>
              </a:rPr>
              <a:t>先形成内容，再形成传播，再进入消费与合作，这是它和普通工具型产品最大的区别。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68680" y="1920240"/>
            <a:ext cx="3383280" cy="3429000"/>
          </a:xfrm>
          <a:prstGeom prst="roundRect">
            <a:avLst>
              <a:gd name="adj" fmla="val 3243"/>
            </a:avLst>
          </a:prstGeom>
          <a:solidFill>
            <a:srgbClr val="FFFDF9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2212848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B43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pitchFamily="34" charset="-120"/>
              </a:rPr>
              <a:t>C 端收入方向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078992" y="2852928"/>
            <a:ext cx="91440" cy="91440"/>
          </a:xfrm>
          <a:prstGeom prst="ellipse">
            <a:avLst/>
          </a:prstGeom>
          <a:solidFill>
            <a:srgbClr val="C46467"/>
          </a:solidFill>
          <a:ln w="12700">
            <a:solidFill>
              <a:srgbClr val="C4646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3584" y="2743200"/>
            <a:ext cx="26974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43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pitchFamily="34" charset="-120"/>
              </a:rPr>
              <a:t>高级模板、字体、导出能力和更完整的手帐创作工具。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78992" y="3639312"/>
            <a:ext cx="91440" cy="91440"/>
          </a:xfrm>
          <a:prstGeom prst="ellipse">
            <a:avLst/>
          </a:prstGeom>
          <a:solidFill>
            <a:srgbClr val="C46467"/>
          </a:solidFill>
          <a:ln w="12700">
            <a:solidFill>
              <a:srgbClr val="C4646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43584" y="3529584"/>
            <a:ext cx="269748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43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pitchFamily="34" charset="-120"/>
              </a:rPr>
              <a:t>电子印章向贴纸、明信片、徽章、定制橡皮章等实体周边转化。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78992" y="4572000"/>
            <a:ext cx="91440" cy="91440"/>
          </a:xfrm>
          <a:prstGeom prst="ellipse">
            <a:avLst/>
          </a:prstGeom>
          <a:solidFill>
            <a:srgbClr val="C46467"/>
          </a:solidFill>
          <a:ln w="12700">
            <a:solidFill>
              <a:srgbClr val="C4646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43584" y="4462272"/>
            <a:ext cx="269748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43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pitchFamily="34" charset="-120"/>
              </a:rPr>
              <a:t>创作者上传印章模板或样式，形成模板交易与激励生态。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53712" y="1938528"/>
            <a:ext cx="3090672" cy="3401568"/>
          </a:xfrm>
          <a:prstGeom prst="roundRect">
            <a:avLst>
              <a:gd name="adj" fmla="val 3550"/>
            </a:avLst>
          </a:prstGeom>
          <a:solidFill>
            <a:srgbClr val="FBF5EF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22392" y="2176272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F0D7D2"/>
          </a:solidFill>
          <a:ln w="12700">
            <a:solidFill>
              <a:srgbClr val="E9C8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22392" y="2244852"/>
            <a:ext cx="1325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8504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pitchFamily="34" charset="-120"/>
              </a:rPr>
              <a:t>内容循环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47488" y="2633472"/>
            <a:ext cx="2084832" cy="402336"/>
          </a:xfrm>
          <a:prstGeom prst="roundRect">
            <a:avLst>
              <a:gd name="adj" fmla="val 27273"/>
            </a:avLst>
          </a:prstGeom>
          <a:solidFill>
            <a:srgbClr val="FFFDF9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47488" y="2770632"/>
            <a:ext cx="2084832" cy="9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8504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pitchFamily="34" charset="-120"/>
              </a:rPr>
              <a:t>生成印迹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025896" y="3026664"/>
            <a:ext cx="13716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66F63"/>
                </a:solidFill>
                <a:latin typeface="Avenir Next" panose="020B0803020202020204" pitchFamily="34" charset="0"/>
                <a:ea typeface="Avenir Next" panose="020B0803020202020204" pitchFamily="34" charset="-122"/>
                <a:cs typeface="Avenir Next" panose="020B0803020202020204" pitchFamily="34" charset="-120"/>
              </a:rPr>
              <a:t>↓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47488" y="3209544"/>
            <a:ext cx="2084832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47488" y="3346704"/>
            <a:ext cx="2084832" cy="9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43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pitchFamily="34" charset="-120"/>
              </a:rPr>
              <a:t>沉淀地图内容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025896" y="3602736"/>
            <a:ext cx="13716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66F63"/>
                </a:solidFill>
                <a:latin typeface="Avenir Next" panose="020B0803020202020204" pitchFamily="34" charset="0"/>
                <a:ea typeface="Avenir Next" panose="020B0803020202020204" pitchFamily="34" charset="-122"/>
                <a:cs typeface="Avenir Next" panose="020B0803020202020204" pitchFamily="34" charset="-120"/>
              </a:rPr>
              <a:t>↓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047488" y="3785616"/>
            <a:ext cx="2084832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47488" y="3922776"/>
            <a:ext cx="2084832" cy="9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43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pitchFamily="34" charset="-120"/>
              </a:rPr>
              <a:t>触发浏览 / 种草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025896" y="4178808"/>
            <a:ext cx="13716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66F63"/>
                </a:solidFill>
                <a:latin typeface="Avenir Next" panose="020B0803020202020204" pitchFamily="34" charset="0"/>
                <a:ea typeface="Avenir Next" panose="020B0803020202020204" pitchFamily="34" charset="-122"/>
                <a:cs typeface="Avenir Next" panose="020B0803020202020204" pitchFamily="34" charset="-120"/>
              </a:rPr>
              <a:t>↓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047488" y="4361688"/>
            <a:ext cx="2084832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47488" y="4498848"/>
            <a:ext cx="2084832" cy="9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43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pitchFamily="34" charset="-120"/>
              </a:rPr>
              <a:t>进入合作与消费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936992" y="1920240"/>
            <a:ext cx="3383280" cy="3429000"/>
          </a:xfrm>
          <a:prstGeom prst="roundRect">
            <a:avLst>
              <a:gd name="adj" fmla="val 3243"/>
            </a:avLst>
          </a:prstGeom>
          <a:solidFill>
            <a:srgbClr val="FFFDF9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65592" y="2212848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B43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pitchFamily="34" charset="-120"/>
              </a:rPr>
              <a:t>B 端合作方向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8165592" y="2852928"/>
            <a:ext cx="91440" cy="91440"/>
          </a:xfrm>
          <a:prstGeom prst="ellipse">
            <a:avLst/>
          </a:prstGeom>
          <a:solidFill>
            <a:srgbClr val="C46467"/>
          </a:solidFill>
          <a:ln w="12700">
            <a:solidFill>
              <a:srgbClr val="C46467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30184" y="2743200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43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pitchFamily="34" charset="-120"/>
              </a:rPr>
              <a:t>景区 / 文旅局发起数字集章活动，把平台变成线上互动载体。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165592" y="3721608"/>
            <a:ext cx="91440" cy="91440"/>
          </a:xfrm>
          <a:prstGeom prst="ellipse">
            <a:avLst/>
          </a:prstGeom>
          <a:solidFill>
            <a:srgbClr val="C46467"/>
          </a:solidFill>
          <a:ln w="12700">
            <a:solidFill>
              <a:srgbClr val="C46467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30184" y="3611880"/>
            <a:ext cx="26517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43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pitchFamily="34" charset="-120"/>
              </a:rPr>
              <a:t>线下商家发布专属印章样式，用户到店打卡生成并收集。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165592" y="4626864"/>
            <a:ext cx="91440" cy="91440"/>
          </a:xfrm>
          <a:prstGeom prst="ellipse">
            <a:avLst/>
          </a:prstGeom>
          <a:solidFill>
            <a:srgbClr val="C46467"/>
          </a:solidFill>
          <a:ln w="12700">
            <a:solidFill>
              <a:srgbClr val="C46467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30184" y="4517136"/>
            <a:ext cx="265176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43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pitchFamily="34" charset="-120"/>
              </a:rPr>
              <a:t>平台沉淀的真实游客足迹与内容，可反向服务目的地传播。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68680" y="5577840"/>
            <a:ext cx="10451592" cy="566928"/>
          </a:xfrm>
          <a:prstGeom prst="roundRect">
            <a:avLst>
              <a:gd name="adj" fmla="val 19355"/>
            </a:avLst>
          </a:prstGeom>
          <a:solidFill>
            <a:srgbClr val="F0D7D2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07008" y="5769864"/>
            <a:ext cx="973836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8504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pitchFamily="34" charset="-120"/>
              </a:rPr>
              <a:t>平台真正积累的不是单纯图片，而是“地点 + 记忆 + 审美表达”的内容资产。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8"/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822960"/>
            <a:ext cx="3474720" cy="2468880"/>
          </a:xfrm>
          <a:prstGeom prst="ellipse">
            <a:avLst/>
          </a:prstGeom>
          <a:solidFill>
            <a:srgbClr val="F0D7D2">
              <a:alpha val="42000"/>
            </a:srgbClr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577840"/>
            <a:ext cx="2743200" cy="1920240"/>
          </a:xfrm>
          <a:prstGeom prst="ellipse">
            <a:avLst/>
          </a:prstGeom>
          <a:solidFill>
            <a:srgbClr val="E9C8C0">
              <a:alpha val="28000"/>
            </a:srgbClr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612648"/>
            <a:ext cx="310896" cy="0"/>
          </a:xfrm>
          <a:prstGeom prst="line">
            <a:avLst/>
          </a:prstGeom>
          <a:noFill/>
          <a:ln w="12700">
            <a:solidFill>
              <a:srgbClr val="C464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9848" y="429768"/>
            <a:ext cx="42062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66F63"/>
                </a:solidFill>
                <a:latin typeface="Avenir Next" panose="020B0803020202020204" pitchFamily="34" charset="0"/>
                <a:ea typeface="Avenir Next" panose="020B0803020202020204" pitchFamily="34" charset="-122"/>
                <a:cs typeface="Avenir Next" panose="020B0803020202020204" pitchFamily="34" charset="-120"/>
              </a:rPr>
              <a:t>WHY NOW / WHY IT WORKS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384048"/>
            <a:ext cx="32918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46467"/>
                </a:solidFill>
                <a:latin typeface="Avenir Next" panose="020B0803020202020204" pitchFamily="34" charset="0"/>
                <a:ea typeface="Avenir Next" panose="020B0803020202020204" pitchFamily="34" charset="-122"/>
                <a:cs typeface="Avenir Next" panose="020B0803020202020204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868680"/>
            <a:ext cx="94183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B4338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pitchFamily="34" charset="-120"/>
              </a:rPr>
              <a:t>为什么是现在，以及为什么这件事做得出来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1527048"/>
            <a:ext cx="74980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6F6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pitchFamily="34" charset="-120"/>
              </a:rPr>
              <a:t>需求基础、技术窗口和已有工程验证，在这个时间点叠到了一起。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68680" y="1938528"/>
            <a:ext cx="2761488" cy="2852928"/>
          </a:xfrm>
          <a:prstGeom prst="roundRect">
            <a:avLst>
              <a:gd name="adj" fmla="val 3974"/>
            </a:avLst>
          </a:prstGeom>
          <a:solidFill>
            <a:srgbClr val="F0D7D2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8136" y="2176272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6467"/>
                </a:solidFill>
                <a:latin typeface="Avenir Next" panose="020B0803020202020204" pitchFamily="34" charset="0"/>
                <a:ea typeface="Avenir Next" panose="020B0803020202020204" pitchFamily="34" charset="-122"/>
                <a:cs typeface="Avenir Next" panose="020B0803020202020204" pitchFamily="34" charset="-120"/>
              </a:rPr>
              <a:t>01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88136" y="2542032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43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pitchFamily="34" charset="-120"/>
              </a:rPr>
              <a:t>AI 与后处理能力成熟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88136" y="3246120"/>
            <a:ext cx="2267712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66F6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pitchFamily="34" charset="-120"/>
              </a:rPr>
              <a:t>风格化生成、去背景、轻量后处理与异步任务链路已经能稳定支撑 MVP 体验。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069080" y="1938528"/>
            <a:ext cx="2761488" cy="2852928"/>
          </a:xfrm>
          <a:prstGeom prst="roundRect">
            <a:avLst>
              <a:gd name="adj" fmla="val 3974"/>
            </a:avLst>
          </a:prstGeom>
          <a:solidFill>
            <a:srgbClr val="F2ECE5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88536" y="2176272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6467"/>
                </a:solidFill>
                <a:latin typeface="Avenir Next" panose="020B0803020202020204" pitchFamily="34" charset="0"/>
                <a:ea typeface="Avenir Next" panose="020B0803020202020204" pitchFamily="34" charset="-122"/>
                <a:cs typeface="Avenir Next" panose="020B0803020202020204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288536" y="2542032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43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pitchFamily="34" charset="-120"/>
              </a:rPr>
              <a:t>场景需求天然连通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288536" y="3246120"/>
            <a:ext cx="2267712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66F6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pitchFamily="34" charset="-120"/>
              </a:rPr>
              <a:t>集章、手帐、旅行分享本来就是天然相连的行为，产品不是在创造需求，而是在重组表达方式。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269480" y="1938528"/>
            <a:ext cx="2761488" cy="2852928"/>
          </a:xfrm>
          <a:prstGeom prst="roundRect">
            <a:avLst>
              <a:gd name="adj" fmla="val 3974"/>
            </a:avLst>
          </a:prstGeom>
          <a:solidFill>
            <a:srgbClr val="F4F0EA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88936" y="2176272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6467"/>
                </a:solidFill>
                <a:latin typeface="Avenir Next" panose="020B0803020202020204" pitchFamily="34" charset="0"/>
                <a:ea typeface="Avenir Next" panose="020B0803020202020204" pitchFamily="34" charset="-122"/>
                <a:cs typeface="Avenir Next" panose="020B0803020202020204" pitchFamily="34" charset="-120"/>
              </a:rPr>
              <a:t>03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488936" y="2542032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43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pitchFamily="34" charset="-120"/>
              </a:rPr>
              <a:t>工程验证已经完成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488936" y="3246120"/>
            <a:ext cx="2267712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66F6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pitchFamily="34" charset="-120"/>
              </a:rPr>
              <a:t>从 React 前端、FastAPI 后端到首页与地图展示都已有实现基础，进入的是产品验证阶段，而非技术探索阶段。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68680" y="5257800"/>
            <a:ext cx="10451592" cy="768096"/>
          </a:xfrm>
          <a:prstGeom prst="roundRect">
            <a:avLst>
              <a:gd name="adj" fmla="val 14286"/>
            </a:avLst>
          </a:prstGeom>
          <a:solidFill>
            <a:srgbClr val="FBF5EF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97280" y="5486400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FBF5EF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5554980"/>
            <a:ext cx="1691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66F6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pitchFamily="34" charset="-120"/>
              </a:rPr>
              <a:t>React 前端已成型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962656" y="5486400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FBF5EF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62656" y="555498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66F6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pitchFamily="34" charset="-120"/>
              </a:rPr>
              <a:t>FastAPI 后端可复用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983480" y="5486400"/>
            <a:ext cx="1755648" cy="347472"/>
          </a:xfrm>
          <a:prstGeom prst="roundRect">
            <a:avLst>
              <a:gd name="adj" fmla="val 21053"/>
            </a:avLst>
          </a:prstGeom>
          <a:solidFill>
            <a:srgbClr val="FBF5EF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5554980"/>
            <a:ext cx="17556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66F6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pitchFamily="34" charset="-120"/>
              </a:rPr>
              <a:t>GMI + rembg 已验证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912864" y="5486400"/>
            <a:ext cx="1883664" cy="347472"/>
          </a:xfrm>
          <a:prstGeom prst="roundRect">
            <a:avLst>
              <a:gd name="adj" fmla="val 21053"/>
            </a:avLst>
          </a:prstGeom>
          <a:solidFill>
            <a:srgbClr val="FBF5EF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12864" y="5554980"/>
            <a:ext cx="188366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66F6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pitchFamily="34" charset="-120"/>
              </a:rPr>
              <a:t>首页 / 地图链路已打通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997696" y="5486400"/>
            <a:ext cx="1783080" cy="347472"/>
          </a:xfrm>
          <a:prstGeom prst="roundRect">
            <a:avLst>
              <a:gd name="adj" fmla="val 21053"/>
            </a:avLst>
          </a:prstGeom>
          <a:solidFill>
            <a:srgbClr val="FBF5EF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97696" y="5554980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66F6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pitchFamily="34" charset="-120"/>
              </a:rPr>
              <a:t>SQLite 持久化已落地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ngti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Hiragino Sans GB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ngti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Hiragino Sans GB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751</Words>
  <Application>WPS 演示</Application>
  <PresentationFormat>On-screen Show (16:9)</PresentationFormat>
  <Paragraphs>95</Paragraphs>
  <Slides>3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24" baseType="lpstr">
      <vt:lpstr>Arial</vt:lpstr>
      <vt:lpstr>宋体</vt:lpstr>
      <vt:lpstr>Wingdings</vt:lpstr>
      <vt:lpstr>Avenir Next</vt:lpstr>
      <vt:lpstr>Avenir Next</vt:lpstr>
      <vt:lpstr>Avenir Next</vt:lpstr>
      <vt:lpstr>Songti SC</vt:lpstr>
      <vt:lpstr>Hiragino Sans GB</vt:lpstr>
      <vt:lpstr>Avenir Next</vt:lpstr>
      <vt:lpstr>汉仪书宋二KW</vt:lpstr>
      <vt:lpstr>微软雅黑</vt:lpstr>
      <vt:lpstr>汉仪旗黑</vt:lpstr>
      <vt:lpstr>宋体</vt:lpstr>
      <vt:lpstr>Arial Unicode MS</vt:lpstr>
      <vt:lpstr>Calibri</vt:lpstr>
      <vt:lpstr>Helvetica Neue</vt:lpstr>
      <vt:lpstr>等线</vt:lpstr>
      <vt:lpstr>汉仪中等线KW</vt:lpstr>
      <vt:lpstr>Songti SC</vt:lpstr>
      <vt:lpstr>Hiragino Sans GB</vt:lpstr>
      <vt:lpstr>Office Theme</vt:lpstr>
      <vt:lpstr>PowerPoint 演示文稿</vt:lpstr>
      <vt:lpstr>PowerPoint 演示文稿</vt:lpstr>
      <vt:lpstr>PowerPoint 演示文稿</vt:lpstr>
    </vt:vector>
  </TitlesOfParts>
  <Company>Memoseal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印迹 Memoseal 用户价值版 尾页优化版</dc:title>
  <dc:creator>OpenAI Codex</dc:creator>
  <dc:subject>印迹 Memoseal 用户价值版 尾页优化版</dc:subject>
  <cp:lastModifiedBy>ronggang</cp:lastModifiedBy>
  <cp:revision>3</cp:revision>
  <dcterms:created xsi:type="dcterms:W3CDTF">2026-03-28T16:38:58Z</dcterms:created>
  <dcterms:modified xsi:type="dcterms:W3CDTF">2026-03-28T16:38:58Z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01497BF55067210ACCF8C76994193587_42</vt:lpwstr>
  </property>
  <property fmtid="{D5CDD505-2E9C-101B-9397-08002B2CF9AE}" pid="3" name="KSOProductBuildVer">
    <vt:lpwstr>2052-12.1.24031.24031</vt:lpwstr>
  </property>
</Properties>
</file>